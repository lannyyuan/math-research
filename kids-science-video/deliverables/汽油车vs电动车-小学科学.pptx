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" id="{4abff312-f774-997f-777c-b57fab5bb82b}">
          <p14:sldIdLst>
            <p14:sldId id="256"/>
          </p14:sldIdLst>
        </p14:section>
        <p14:section name="汽油车" id="{9154d88a-6420-7504-4dff-996a37065005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电动车" id="{f6277fa9-40a0-1704-e675-91a75451d525}">
          <p14:sldIdLst>
            <p14:sldId id="265"/>
            <p14:sldId id="266"/>
            <p14:sldId id="267"/>
            <p14:sldId id="268"/>
            <p14:sldId id="269"/>
          </p14:sldIdLst>
        </p14:section>
        <p14:section name="比一比" id="{4db220a8-8bf2-15bd-7b54-ae5ece8b4e09}">
          <p14:sldIdLst>
            <p14:sldId id="270"/>
            <p14:sldId id="271"/>
          </p14:sldIdLst>
        </p14:section>
        <p14:section name="中国汽车" id="{396cb49e-1853-7362-d7d5-380e96445a65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2009 年造车数量（万辆）</c:v>
                </c:pt>
              </c:strCache>
            </c:strRef>
          </c:tx>
          <c:spPr>
            <a:solidFill>
              <a:srgbClr val="A0582E"/>
            </a:solidFill>
            <a:effectLst/>
          </c:spPr>
          <c:invertIfNegative val="0"/>
          <c:dLbls>
            <c:numFmt formatCode="0&quot;万&quot;" sourceLinked="0"/>
            <c:txPr>
              <a:bodyPr/>
              <a:lstStyle/>
              <a:p>
                <a:pPr>
                  <a:defRPr b="1" i="0" strike="noStrike" sz="1500" u="none">
                    <a:solidFill>
                      <a:srgbClr val="4A3B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058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C4B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C4B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中国</c:v>
                  </c:pt>
                  <c:pt idx="1">
                    <c:v>日本</c:v>
                  </c:pt>
                  <c:pt idx="2">
                    <c:v>美国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1379</c:v>
                </c:pt>
                <c:pt idx="1">
                  <c:v>793</c:v>
                </c:pt>
                <c:pt idx="2">
                  <c:v>571</c:v>
                </c:pt>
              </c:numCache>
            </c:numRef>
          </c:val>
        </c:ser>
        <c:dLbls>
          <c:numFmt formatCode="0&quot;万&quot;" sourceLinked="0"/>
          <c:txPr>
            <a:bodyPr/>
            <a:lstStyle/>
            <a:p>
              <a:pPr>
                <a:defRPr b="1" i="0" strike="noStrike" sz="1500" u="none">
                  <a:solidFill>
                    <a:srgbClr val="4A3B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700" b="0" i="0" u="none" strike="noStrike">
                <a:solidFill>
                  <a:srgbClr val="4A3B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9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 年出口（万辆）</c:v>
                </c:pt>
              </c:strCache>
            </c:strRef>
          </c:tx>
          <c:spPr>
            <a:solidFill>
              <a:srgbClr val="A0582E"/>
            </a:solidFill>
            <a:effectLst/>
          </c:spPr>
          <c:invertIfNegative val="0"/>
          <c:dLbls>
            <c:numFmt formatCode="0&quot;万&quot;" sourceLinked="0"/>
            <c:txPr>
              <a:bodyPr/>
              <a:lstStyle/>
              <a:p>
                <a:pPr>
                  <a:defRPr b="1" i="0" strike="noStrike" sz="1500" u="none">
                    <a:solidFill>
                      <a:srgbClr val="4A3B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058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C4B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中国</c:v>
                  </c:pt>
                  <c:pt idx="1">
                    <c:v>日本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491</c:v>
                </c:pt>
                <c:pt idx="1">
                  <c:v>442</c:v>
                </c:pt>
              </c:numCache>
            </c:numRef>
          </c:val>
        </c:ser>
        <c:dLbls>
          <c:numFmt formatCode="0&quot;万&quot;" sourceLinked="0"/>
          <c:txPr>
            <a:bodyPr/>
            <a:lstStyle/>
            <a:p>
              <a:pPr>
                <a:defRPr b="1" i="0" strike="noStrike" sz="1500" u="none">
                  <a:solidFill>
                    <a:srgbClr val="4A3B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700" b="0" i="0" u="none" strike="noStrike">
                <a:solidFill>
                  <a:srgbClr val="4A3B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8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今天我们当一回“汽车小侦探”：把汽油车和电动车的肚子打开看看，比一比谁的结构更简单。先请同学们猜一猜：哪一辆车里面的零件更多？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播放动画（70 秒，自带旁白和字幕）。看完问：汽油从油箱出发，经过哪些地方，最后怎样让车轮转起来？动画最后，全车零件散开成“零件云”——会动的零件大约 2000 多个。
两种上法：① 先放完整动画，再逐页讲；② 跳过这一页，在后面每个零件页点小视频，只放那一段。“零件云”结尾只在完整动画里。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油箱
点右上角的小视频，会全屏播放汽油车动画的这一段（0:02.0–0:12.0，约 10 秒，带旁白），播完回到这一页。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发动机
点右上角的小视频，会全屏播放汽油车动画的这一段（0:12.0–0:28.0，约 16 秒，带旁白），播完回到这一页。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变速箱
点右上角的小视频，会全屏播放汽油车动画的这一段（0:28.0–0:35.3，约 7 秒，带旁白），播完回到这一页。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传动轴
点右上角的小视频，会全屏播放汽油车动画的这一段（0:32.4–0:40.0，约 8 秒，带旁白），播完回到这一页。
动画里的车是前轮驱动：发动机在前面，动力经变速箱、再由两根“半轴”送到前轮——半轴就是短短的传动轴。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散热器
点右上角的小视频，会全屏播放汽油车动画的这一段（0:40.0–0:43.6，约 4 秒，带旁白），播完回到这一页。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机油系统
点右上角的小视频，会全屏播放汽油车动画的这一段（0:43.4–0:46.5，约 3 秒，带旁白），播完回到这一页。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排气管
点右上角的小视频，会全屏播放汽油车动画的这一段（0:46.4–0:52.0，约 6 秒，带旁白），播完回到这一页。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播放动画（72 秒）。看完问：电动车的“三大件”是什么？（电池、电机、电控）电流总是从电池流到控制器，再流到电机。和汽油车比，车尾没有排气管，也不用换机油。
两种上法：① 先放完整动画，再逐页讲；② 跳过这一页，在后面电池包、电机、电控页点小视频。单速减速器（0:40–0:50）、“车尾干干净净”（0:50–1:00）和拆车结尾只在完整动画里。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电池包
点右上角的小视频，会全屏播放电动车动画的这一段（0:02.0–0:14.0，约 12 秒，带旁白），播完回到这一页。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电机
点右上角的小视频，会全屏播放电动车动画的这一段（0:26.0–0:40.0，约 14 秒，带旁白），播完回到这一页。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电控大脑
点右上角的小视频，会全屏播放电动车动画的这一段（0:14.0–0:26.0，约 12 秒，带旁白），播完回到这一页。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回收刹车
动画里没有单独讲回收刹车，可以这样讲：踩刹车时，电机反过来变成“发电机”，车轮带着它转，发出的电又存回电池。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左边播放两辆车同时拆开的动画（11 秒，无声）。右边每个小圆点代表 10 个会动的零件：汽油车的发动机和变速箱里，会动的零件大约 2000 个（200 个圆点）；电动车的电机和减速器，大约 20 个（2 个圆点）。这两个数是常被引用的估算，只算“会转、会滑、会上下跑”的零件，不算螺丝和车身。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上面两行是“动力走的路”：汽油车要经过油箱、发动机、变速箱、传动轴才到车轮，发动机还离不开散热器、机油和排气管这些帮手；电动车是电池包、电控、电机、减速器，再到车轮。
下面的方块：把能量分成 10 份，汽油车只有 2～3 份真正推动车轮，其余大多变成热跑掉了；电动车有差不多 8 份。（美国能源部 fueleconomy.gov：汽油车约 12%–30%，电动车超过 77%。）
可以补充：电动车刹车时，电机还能反过来发电，把力气存回电池（回收刹车）。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 2009 年，中国一年造了 1379 万辆车，超过日本（793 万）和美国（571 万），成为世界第一，到 2025 年已经连续 17 年第一（2025 年 3453 万辆）。
② 2023 年，中国卖到国外的车有 491 万辆，超过日本（442 万），成为出口世界第一；2025 年出口 710 万辆。
③ 2025 年，全部新车里新能源车（纯电动 + 插电混动）占 47.9%，差不多一半；只算国内卖出的新车，已经超过一半（国内乘用车 54%）。2020 年这个比例只有 5.4%，五年里涨了快 10 倍。
数据来源：中国汽车工业协会、OICA。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ARD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ARD_EV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_EV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">
    <p:bg>
      <p:bgPr>
        <a:solidFill>
          <a:srgbClr val="FAF4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video" Target="../media/media-2-1.mp4"/><Relationship Id="rId2" Type="http://schemas.microsoft.com/office/2007/relationships/media" Target="../media/media-2-1.mp4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video" Target="../media/media-3-2.mp4"/><Relationship Id="rId3" Type="http://schemas.microsoft.com/office/2007/relationships/media" Target="../media/media-3-2.mp4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video" Target="../media/media-4-2.mp4"/><Relationship Id="rId3" Type="http://schemas.microsoft.com/office/2007/relationships/media" Target="../media/media-4-2.mp4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video" Target="../media/media-5-2.mp4"/><Relationship Id="rId3" Type="http://schemas.microsoft.com/office/2007/relationships/media" Target="../media/media-5-2.mp4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video" Target="../media/media-6-2.mp4"/><Relationship Id="rId3" Type="http://schemas.microsoft.com/office/2007/relationships/media" Target="../media/media-6-2.mp4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video" Target="../media/media-7-2.mp4"/><Relationship Id="rId3" Type="http://schemas.microsoft.com/office/2007/relationships/media" Target="../media/media-7-2.mp4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video" Target="../media/media-8-2.mp4"/><Relationship Id="rId3" Type="http://schemas.microsoft.com/office/2007/relationships/media" Target="../media/media-8-2.mp4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video" Target="../media/media-9-2.mp4"/><Relationship Id="rId3" Type="http://schemas.microsoft.com/office/2007/relationships/media" Target="../media/media-9-2.mp4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video" Target="../media/media-11-2.mp4"/><Relationship Id="rId3" Type="http://schemas.microsoft.com/office/2007/relationships/media" Target="../media/media-11-2.mp4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video" Target="../media/media-12-2.mp4"/><Relationship Id="rId3" Type="http://schemas.microsoft.com/office/2007/relationships/media" Target="../media/media-12-2.mp4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video" Target="../media/media-13-2.mp4"/><Relationship Id="rId3" Type="http://schemas.microsoft.com/office/2007/relationships/media" Target="../media/media-13-2.mp4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5-1.mp4"/><Relationship Id="rId2" Type="http://schemas.microsoft.com/office/2007/relationships/media" Target="../media/media-15-1.mp4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image" Target="../media/image-17-1.png"/><Relationship Id="rId4" Type="http://schemas.openxmlformats.org/officeDocument/2006/relationships/image" Target="../media/image-17-1.png"/><Relationship Id="rId5" Type="http://schemas.openxmlformats.org/officeDocument/2006/relationships/image" Target="../media/image-17-1.png"/><Relationship Id="rId6" Type="http://schemas.openxmlformats.org/officeDocument/2006/relationships/image" Target="../media/image-17-1.png"/><Relationship Id="rId7" Type="http://schemas.openxmlformats.org/officeDocument/2006/relationships/image" Target="../media/image-17-1.png"/><Relationship Id="rId8" Type="http://schemas.openxmlformats.org/officeDocument/2006/relationships/image" Target="../media/image-17-6.png"/><Relationship Id="rId9" Type="http://schemas.openxmlformats.org/officeDocument/2006/relationships/image" Target="../media/image-17-6.png"/><Relationship Id="rId10" Type="http://schemas.openxmlformats.org/officeDocument/2006/relationships/image" Target="../media/image-17-6.png"/><Relationship Id="rId11" Type="http://schemas.openxmlformats.org/officeDocument/2006/relationships/image" Target="../media/image-17-6.png"/><Relationship Id="rId12" Type="http://schemas.openxmlformats.org/officeDocument/2006/relationships/image" Target="../media/image-17-6.png"/><Relationship Id="rId13" Type="http://schemas.openxmlformats.org/officeDocument/2006/relationships/image" Target="../media/image-17-1.png"/><Relationship Id="rId14" Type="http://schemas.openxmlformats.org/officeDocument/2006/relationships/image" Target="../media/image-17-6.pn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汽油车 vs 电动车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859536" y="13258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肚子里有什么？一起拆开比一比！</a:t>
            </a:r>
            <a:endParaRPr lang="en-US" sz="2400" dirty="0"/>
          </a:p>
        </p:txBody>
      </p:sp>
      <p:pic>
        <p:nvPicPr>
          <p:cNvPr id="4" name="gasCa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148840"/>
            <a:ext cx="4754880" cy="2331720"/>
          </a:xfrm>
          <a:prstGeom prst="ellipse">
            <a:avLst/>
          </a:prstGeom>
        </p:spPr>
      </p:pic>
      <p:pic>
        <p:nvPicPr>
          <p:cNvPr id="5" name="evCa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2148840"/>
            <a:ext cx="4754880" cy="2331720"/>
          </a:xfrm>
          <a:prstGeom prst="ellipse">
            <a:avLst/>
          </a:prstGeom>
        </p:spPr>
      </p:pic>
      <p:sp>
        <p:nvSpPr>
          <p:cNvPr id="6" name="vs"/>
          <p:cNvSpPr txBox="1"/>
          <p:nvPr/>
        </p:nvSpPr>
        <p:spPr>
          <a:xfrm>
            <a:off x="5641848" y="2862072"/>
            <a:ext cx="914400" cy="914400"/>
          </a:xfrm>
          <a:prstGeom prst="ellipse">
            <a:avLst/>
          </a:prstGeom>
          <a:solidFill>
            <a:srgbClr val="A0582E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VS</a:t>
            </a:r>
            <a:endParaRPr lang="en-US" sz="2600" dirty="0"/>
          </a:p>
        </p:txBody>
      </p:sp>
      <p:sp>
        <p:nvSpPr>
          <p:cNvPr id="7" name="gasChip"/>
          <p:cNvSpPr txBox="1"/>
          <p:nvPr/>
        </p:nvSpPr>
        <p:spPr>
          <a:xfrm>
            <a:off x="2093976" y="4663440"/>
            <a:ext cx="2286000" cy="548640"/>
          </a:xfrm>
          <a:prstGeom prst="roundRect">
            <a:avLst>
              <a:gd name="adj" fmla="val 33333"/>
            </a:avLst>
          </a:prstGeom>
          <a:solidFill>
            <a:srgbClr val="E8771A"/>
          </a:solidFill>
          <a:ln>
            <a:solidFill>
              <a:srgbClr val="E877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汽油车</a:t>
            </a:r>
            <a:endParaRPr lang="en-US" sz="2200" dirty="0"/>
          </a:p>
        </p:txBody>
      </p:sp>
      <p:sp>
        <p:nvSpPr>
          <p:cNvPr id="8" name="evChip"/>
          <p:cNvSpPr txBox="1"/>
          <p:nvPr/>
        </p:nvSpPr>
        <p:spPr>
          <a:xfrm>
            <a:off x="7808976" y="4663440"/>
            <a:ext cx="2286000" cy="548640"/>
          </a:xfrm>
          <a:prstGeom prst="roundRect">
            <a:avLst>
              <a:gd name="adj" fmla="val 33333"/>
            </a:avLst>
          </a:prstGeom>
          <a:solidFill>
            <a:srgbClr val="2FA35F"/>
          </a:solidFill>
          <a:ln>
            <a:solidFill>
              <a:srgbClr val="2FA3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电动车</a:t>
            </a:r>
            <a:endParaRPr lang="en-US" sz="2200" dirty="0"/>
          </a:p>
        </p:txBody>
      </p:sp>
      <p:sp>
        <p:nvSpPr>
          <p:cNvPr id="9" name="tag"/>
          <p:cNvSpPr txBox="1"/>
          <p:nvPr/>
        </p:nvSpPr>
        <p:spPr>
          <a:xfrm>
            <a:off x="859536" y="56692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582E"/>
                </a:solidFill>
              </a:rPr>
              <a:t>小学科学 · 汽车大揭秘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第一站：汽油车的肚子里有什么？</a:t>
            </a:r>
            <a:endParaRPr lang="en-US" sz="3200" dirty="0"/>
          </a:p>
        </p:txBody>
      </p:sp>
      <p:pic>
        <p:nvPicPr>
          <p:cNvPr id="3" name="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59536" y="1508760"/>
            <a:ext cx="7680960" cy="4320540"/>
          </a:xfrm>
          <a:prstGeom prst="rect">
            <a:avLst/>
          </a:prstGeom>
        </p:spPr>
      </p:pic>
      <p:sp>
        <p:nvSpPr>
          <p:cNvPr id="4" name="tag"/>
          <p:cNvSpPr txBox="1"/>
          <p:nvPr/>
        </p:nvSpPr>
        <p:spPr>
          <a:xfrm>
            <a:off x="8823960" y="1508760"/>
            <a:ext cx="2468880" cy="502920"/>
          </a:xfrm>
          <a:prstGeom prst="roundRect">
            <a:avLst>
              <a:gd name="adj" fmla="val 36364"/>
            </a:avLst>
          </a:prstGeom>
          <a:solidFill>
            <a:srgbClr val="E8771A"/>
          </a:solidFill>
          <a:ln>
            <a:solidFill>
              <a:srgbClr val="E877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完整动画</a:t>
            </a:r>
            <a:endParaRPr lang="en-US" sz="1800" dirty="0"/>
          </a:p>
        </p:txBody>
      </p:sp>
      <p:sp>
        <p:nvSpPr>
          <p:cNvPr id="5" name="prompts"/>
          <p:cNvSpPr txBox="1"/>
          <p:nvPr/>
        </p:nvSpPr>
        <p:spPr>
          <a:xfrm>
            <a:off x="8823960" y="2194560"/>
            <a:ext cx="2514600" cy="3634740"/>
          </a:xfrm>
          <a:prstGeom prst="roundRect">
            <a:avLst>
              <a:gd name="adj" fmla="val 8000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152400" tIns="203200" rIns="203200" bIns="15240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后面每一页还有对应的小片段，可以先跳过。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边看边找一找：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油箱藏在哪里？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活塞怎样上下跑？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尾气从哪儿出来？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" descr="/tmp/claude-0/-home-user-math-research/16f99fce-b859-50e5-9b54-596ba7204777/scratchpad/ppt/img/car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clip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620000" y="685800"/>
            <a:ext cx="3276600" cy="1828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" descr="/tmp/claude-0/-home-user-math-research/16f99fce-b859-50e5-9b54-596ba7204777/scratchpad/ppt/img/car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clip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43200" y="952500"/>
            <a:ext cx="2324100" cy="129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" descr="/tmp/claude-0/-home-user-math-research/16f99fce-b859-50e5-9b54-596ba7204777/scratchpad/ppt/img/car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clip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620000" y="685800"/>
            <a:ext cx="3276600" cy="1828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" descr="/tmp/claude-0/-home-user-math-research/16f99fce-b859-50e5-9b54-596ba7204777/scratchpad/ppt/img/car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clip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43200" y="952500"/>
            <a:ext cx="2324100" cy="129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" descr="/tmp/claude-0/-home-user-math-research/16f99fce-b859-50e5-9b54-596ba7204777/scratchpad/ppt/img/car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clip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620000" y="685800"/>
            <a:ext cx="3276600" cy="1828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" descr="/tmp/claude-0/-home-user-math-research/16f99fce-b859-50e5-9b54-596ba7204777/scratchpad/ppt/img/car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clip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981200" y="1447800"/>
            <a:ext cx="1905000" cy="1066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" descr="/tmp/claude-0/-home-user-math-research/16f99fce-b859-50e5-9b54-596ba7204777/scratchpad/ppt/img/car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clip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620000" y="685800"/>
            <a:ext cx="3276600" cy="1828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第二站：电动车的肚子里有什么？</a:t>
            </a:r>
            <a:endParaRPr lang="en-US" sz="3200" dirty="0"/>
          </a:p>
        </p:txBody>
      </p:sp>
      <p:pic>
        <p:nvPicPr>
          <p:cNvPr id="3" name="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59536" y="1508760"/>
            <a:ext cx="7680960" cy="4320540"/>
          </a:xfrm>
          <a:prstGeom prst="rect">
            <a:avLst/>
          </a:prstGeom>
        </p:spPr>
      </p:pic>
      <p:sp>
        <p:nvSpPr>
          <p:cNvPr id="4" name="tag"/>
          <p:cNvSpPr txBox="1"/>
          <p:nvPr/>
        </p:nvSpPr>
        <p:spPr>
          <a:xfrm>
            <a:off x="8823960" y="1508760"/>
            <a:ext cx="2468880" cy="502920"/>
          </a:xfrm>
          <a:prstGeom prst="roundRect">
            <a:avLst>
              <a:gd name="adj" fmla="val 36364"/>
            </a:avLst>
          </a:prstGeom>
          <a:solidFill>
            <a:srgbClr val="2FA35F"/>
          </a:solidFill>
          <a:ln>
            <a:solidFill>
              <a:srgbClr val="2FA3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完整动画</a:t>
            </a:r>
            <a:endParaRPr lang="en-US" sz="1800" dirty="0"/>
          </a:p>
        </p:txBody>
      </p:sp>
      <p:sp>
        <p:nvSpPr>
          <p:cNvPr id="5" name="prompts"/>
          <p:cNvSpPr txBox="1"/>
          <p:nvPr/>
        </p:nvSpPr>
        <p:spPr>
          <a:xfrm>
            <a:off x="8823960" y="2194560"/>
            <a:ext cx="2514600" cy="3634740"/>
          </a:xfrm>
          <a:prstGeom prst="roundRect">
            <a:avLst>
              <a:gd name="adj" fmla="val 8000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152400" tIns="203200" rIns="203200" bIns="15240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后面每一页还有对应的小片段，可以先跳过。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边看边找一找：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电池包铺在哪里？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电流往哪儿跑？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tx1"/>
                </a:solidFill>
              </a:rPr>
              <a:t>有没有排气管？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" descr="/tmp/claude-0/-home-user-math-research/16f99fce-b859-50e5-9b54-596ba7204777/scratchpad/ppt/img/ev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clip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620000" y="685800"/>
            <a:ext cx="3276600" cy="1828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" descr="/tmp/claude-0/-home-user-math-research/16f99fce-b859-50e5-9b54-596ba7204777/scratchpad/ppt/img/e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clip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514600" y="685800"/>
            <a:ext cx="3619500" cy="2019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" descr="/tmp/claude-0/-home-user-math-research/16f99fce-b859-50e5-9b54-596ba7204777/scratchpad/ppt/img/e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clip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429500" y="685800"/>
            <a:ext cx="3619500" cy="2019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" descr="/tmp/claude-0/-home-user-math-research/16f99fce-b859-50e5-9b54-596ba7204777/scratchpad/ppt/img/ev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比一比：会动的零件有多少？</a:t>
            </a:r>
            <a:endParaRPr lang="en-US" sz="3200" dirty="0"/>
          </a:p>
        </p:txBody>
      </p:sp>
      <p:pic>
        <p:nvPicPr>
          <p:cNvPr id="3" name="compare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59536" y="1463040"/>
            <a:ext cx="5852160" cy="3291840"/>
          </a:xfrm>
          <a:prstGeom prst="rect">
            <a:avLst/>
          </a:prstGeom>
        </p:spPr>
      </p:pic>
      <p:sp>
        <p:nvSpPr>
          <p:cNvPr id="4" name="videoHint"/>
          <p:cNvSpPr txBox="1"/>
          <p:nvPr/>
        </p:nvSpPr>
        <p:spPr>
          <a:xfrm>
            <a:off x="859536" y="482803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6A5C"/>
                </a:solidFill>
              </a:rPr>
              <a:t>▶ 点一下，看两辆车同时拆开（11 秒）</a:t>
            </a:r>
            <a:endParaRPr lang="en-US" sz="1500" dirty="0"/>
          </a:p>
        </p:txBody>
      </p:sp>
      <p:sp>
        <p:nvSpPr>
          <p:cNvPr id="5" name="dotsPanel"/>
          <p:cNvSpPr/>
          <p:nvPr/>
        </p:nvSpPr>
        <p:spPr>
          <a:xfrm>
            <a:off x="6995160" y="1463040"/>
            <a:ext cx="4334256" cy="3730752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gasChip"/>
          <p:cNvSpPr txBox="1"/>
          <p:nvPr/>
        </p:nvSpPr>
        <p:spPr>
          <a:xfrm>
            <a:off x="7196328" y="1627632"/>
            <a:ext cx="1143000" cy="384048"/>
          </a:xfrm>
          <a:prstGeom prst="roundRect">
            <a:avLst>
              <a:gd name="adj" fmla="val 47619"/>
            </a:avLst>
          </a:prstGeom>
          <a:solidFill>
            <a:srgbClr val="E8771A"/>
          </a:solidFill>
          <a:ln>
            <a:solidFill>
              <a:srgbClr val="E877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汽油车</a:t>
            </a:r>
            <a:endParaRPr lang="en-US" sz="1600" dirty="0"/>
          </a:p>
        </p:txBody>
      </p:sp>
      <p:sp>
        <p:nvSpPr>
          <p:cNvPr id="7" name="gasCount"/>
          <p:cNvSpPr txBox="1"/>
          <p:nvPr/>
        </p:nvSpPr>
        <p:spPr>
          <a:xfrm>
            <a:off x="8458200" y="157276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771A"/>
                </a:solidFill>
              </a:rPr>
              <a:t>≈ 2000</a:t>
            </a:r>
            <a:pPr indent="0" marL="0">
              <a:buNone/>
            </a:pPr>
            <a:r>
              <a:rPr lang="en-US" sz="1600" dirty="0">
                <a:solidFill>
                  <a:srgbClr val="4A3B30"/>
                </a:solidFill>
              </a:rPr>
              <a:t> 个</a:t>
            </a:r>
            <a:endParaRPr lang="en-US" sz="2600" dirty="0"/>
          </a:p>
        </p:txBody>
      </p:sp>
      <p:sp>
        <p:nvSpPr>
          <p:cNvPr id="8" name="gasDot0"/>
          <p:cNvSpPr/>
          <p:nvPr/>
        </p:nvSpPr>
        <p:spPr>
          <a:xfrm>
            <a:off x="7226046" y="217627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" name="gasDot1"/>
          <p:cNvSpPr/>
          <p:nvPr/>
        </p:nvSpPr>
        <p:spPr>
          <a:xfrm>
            <a:off x="7422642" y="217627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" name="gasDot2"/>
          <p:cNvSpPr/>
          <p:nvPr/>
        </p:nvSpPr>
        <p:spPr>
          <a:xfrm>
            <a:off x="7619238" y="217627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" name="gasDot3"/>
          <p:cNvSpPr/>
          <p:nvPr/>
        </p:nvSpPr>
        <p:spPr>
          <a:xfrm>
            <a:off x="7815834" y="217627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" name="gasDot4"/>
          <p:cNvSpPr/>
          <p:nvPr/>
        </p:nvSpPr>
        <p:spPr>
          <a:xfrm>
            <a:off x="8012430" y="217627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" name="gasDot5"/>
          <p:cNvSpPr/>
          <p:nvPr/>
        </p:nvSpPr>
        <p:spPr>
          <a:xfrm>
            <a:off x="8209026" y="217627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" name="gasDot6"/>
          <p:cNvSpPr/>
          <p:nvPr/>
        </p:nvSpPr>
        <p:spPr>
          <a:xfrm>
            <a:off x="8405622" y="217627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" name="gasDot7"/>
          <p:cNvSpPr/>
          <p:nvPr/>
        </p:nvSpPr>
        <p:spPr>
          <a:xfrm>
            <a:off x="8602218" y="217627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" name="gasDot8"/>
          <p:cNvSpPr/>
          <p:nvPr/>
        </p:nvSpPr>
        <p:spPr>
          <a:xfrm>
            <a:off x="8798814" y="217627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" name="gasDot9"/>
          <p:cNvSpPr/>
          <p:nvPr/>
        </p:nvSpPr>
        <p:spPr>
          <a:xfrm>
            <a:off x="8995410" y="217627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" name="gasDot10"/>
          <p:cNvSpPr/>
          <p:nvPr/>
        </p:nvSpPr>
        <p:spPr>
          <a:xfrm>
            <a:off x="9192006" y="217627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" name="gasDot11"/>
          <p:cNvSpPr/>
          <p:nvPr/>
        </p:nvSpPr>
        <p:spPr>
          <a:xfrm>
            <a:off x="9388602" y="217627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" name="gasDot12"/>
          <p:cNvSpPr/>
          <p:nvPr/>
        </p:nvSpPr>
        <p:spPr>
          <a:xfrm>
            <a:off x="9585198" y="217627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1" name="gasDot13"/>
          <p:cNvSpPr/>
          <p:nvPr/>
        </p:nvSpPr>
        <p:spPr>
          <a:xfrm>
            <a:off x="9781794" y="217627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2" name="gasDot14"/>
          <p:cNvSpPr/>
          <p:nvPr/>
        </p:nvSpPr>
        <p:spPr>
          <a:xfrm>
            <a:off x="9978390" y="217627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3" name="gasDot15"/>
          <p:cNvSpPr/>
          <p:nvPr/>
        </p:nvSpPr>
        <p:spPr>
          <a:xfrm>
            <a:off x="10174986" y="217627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4" name="gasDot16"/>
          <p:cNvSpPr/>
          <p:nvPr/>
        </p:nvSpPr>
        <p:spPr>
          <a:xfrm>
            <a:off x="10371582" y="217627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5" name="gasDot17"/>
          <p:cNvSpPr/>
          <p:nvPr/>
        </p:nvSpPr>
        <p:spPr>
          <a:xfrm>
            <a:off x="10568178" y="217627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6" name="gasDot18"/>
          <p:cNvSpPr/>
          <p:nvPr/>
        </p:nvSpPr>
        <p:spPr>
          <a:xfrm>
            <a:off x="10764774" y="217627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7" name="gasDot19"/>
          <p:cNvSpPr/>
          <p:nvPr/>
        </p:nvSpPr>
        <p:spPr>
          <a:xfrm>
            <a:off x="10961370" y="217627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8" name="gasDot20"/>
          <p:cNvSpPr/>
          <p:nvPr/>
        </p:nvSpPr>
        <p:spPr>
          <a:xfrm>
            <a:off x="7226046" y="237286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9" name="gasDot21"/>
          <p:cNvSpPr/>
          <p:nvPr/>
        </p:nvSpPr>
        <p:spPr>
          <a:xfrm>
            <a:off x="7422642" y="237286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0" name="gasDot22"/>
          <p:cNvSpPr/>
          <p:nvPr/>
        </p:nvSpPr>
        <p:spPr>
          <a:xfrm>
            <a:off x="7619238" y="237286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1" name="gasDot23"/>
          <p:cNvSpPr/>
          <p:nvPr/>
        </p:nvSpPr>
        <p:spPr>
          <a:xfrm>
            <a:off x="7815834" y="237286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2" name="gasDot24"/>
          <p:cNvSpPr/>
          <p:nvPr/>
        </p:nvSpPr>
        <p:spPr>
          <a:xfrm>
            <a:off x="8012430" y="237286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3" name="gasDot25"/>
          <p:cNvSpPr/>
          <p:nvPr/>
        </p:nvSpPr>
        <p:spPr>
          <a:xfrm>
            <a:off x="8209026" y="237286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4" name="gasDot26"/>
          <p:cNvSpPr/>
          <p:nvPr/>
        </p:nvSpPr>
        <p:spPr>
          <a:xfrm>
            <a:off x="8405622" y="237286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5" name="gasDot27"/>
          <p:cNvSpPr/>
          <p:nvPr/>
        </p:nvSpPr>
        <p:spPr>
          <a:xfrm>
            <a:off x="8602218" y="237286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6" name="gasDot28"/>
          <p:cNvSpPr/>
          <p:nvPr/>
        </p:nvSpPr>
        <p:spPr>
          <a:xfrm>
            <a:off x="8798814" y="237286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7" name="gasDot29"/>
          <p:cNvSpPr/>
          <p:nvPr/>
        </p:nvSpPr>
        <p:spPr>
          <a:xfrm>
            <a:off x="8995410" y="237286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8" name="gasDot30"/>
          <p:cNvSpPr/>
          <p:nvPr/>
        </p:nvSpPr>
        <p:spPr>
          <a:xfrm>
            <a:off x="9192006" y="237286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9" name="gasDot31"/>
          <p:cNvSpPr/>
          <p:nvPr/>
        </p:nvSpPr>
        <p:spPr>
          <a:xfrm>
            <a:off x="9388602" y="237286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0" name="gasDot32"/>
          <p:cNvSpPr/>
          <p:nvPr/>
        </p:nvSpPr>
        <p:spPr>
          <a:xfrm>
            <a:off x="9585198" y="237286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1" name="gasDot33"/>
          <p:cNvSpPr/>
          <p:nvPr/>
        </p:nvSpPr>
        <p:spPr>
          <a:xfrm>
            <a:off x="9781794" y="237286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2" name="gasDot34"/>
          <p:cNvSpPr/>
          <p:nvPr/>
        </p:nvSpPr>
        <p:spPr>
          <a:xfrm>
            <a:off x="9978390" y="237286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3" name="gasDot35"/>
          <p:cNvSpPr/>
          <p:nvPr/>
        </p:nvSpPr>
        <p:spPr>
          <a:xfrm>
            <a:off x="10174986" y="237286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4" name="gasDot36"/>
          <p:cNvSpPr/>
          <p:nvPr/>
        </p:nvSpPr>
        <p:spPr>
          <a:xfrm>
            <a:off x="10371582" y="237286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5" name="gasDot37"/>
          <p:cNvSpPr/>
          <p:nvPr/>
        </p:nvSpPr>
        <p:spPr>
          <a:xfrm>
            <a:off x="10568178" y="237286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6" name="gasDot38"/>
          <p:cNvSpPr/>
          <p:nvPr/>
        </p:nvSpPr>
        <p:spPr>
          <a:xfrm>
            <a:off x="10764774" y="237286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7" name="gasDot39"/>
          <p:cNvSpPr/>
          <p:nvPr/>
        </p:nvSpPr>
        <p:spPr>
          <a:xfrm>
            <a:off x="10961370" y="237286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8" name="gasDot40"/>
          <p:cNvSpPr/>
          <p:nvPr/>
        </p:nvSpPr>
        <p:spPr>
          <a:xfrm>
            <a:off x="7226046" y="256946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49" name="gasDot41"/>
          <p:cNvSpPr/>
          <p:nvPr/>
        </p:nvSpPr>
        <p:spPr>
          <a:xfrm>
            <a:off x="7422642" y="256946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0" name="gasDot42"/>
          <p:cNvSpPr/>
          <p:nvPr/>
        </p:nvSpPr>
        <p:spPr>
          <a:xfrm>
            <a:off x="7619238" y="256946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1" name="gasDot43"/>
          <p:cNvSpPr/>
          <p:nvPr/>
        </p:nvSpPr>
        <p:spPr>
          <a:xfrm>
            <a:off x="7815834" y="256946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2" name="gasDot44"/>
          <p:cNvSpPr/>
          <p:nvPr/>
        </p:nvSpPr>
        <p:spPr>
          <a:xfrm>
            <a:off x="8012430" y="256946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3" name="gasDot45"/>
          <p:cNvSpPr/>
          <p:nvPr/>
        </p:nvSpPr>
        <p:spPr>
          <a:xfrm>
            <a:off x="8209026" y="256946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4" name="gasDot46"/>
          <p:cNvSpPr/>
          <p:nvPr/>
        </p:nvSpPr>
        <p:spPr>
          <a:xfrm>
            <a:off x="8405622" y="256946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5" name="gasDot47"/>
          <p:cNvSpPr/>
          <p:nvPr/>
        </p:nvSpPr>
        <p:spPr>
          <a:xfrm>
            <a:off x="8602218" y="256946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6" name="gasDot48"/>
          <p:cNvSpPr/>
          <p:nvPr/>
        </p:nvSpPr>
        <p:spPr>
          <a:xfrm>
            <a:off x="8798814" y="256946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7" name="gasDot49"/>
          <p:cNvSpPr/>
          <p:nvPr/>
        </p:nvSpPr>
        <p:spPr>
          <a:xfrm>
            <a:off x="8995410" y="256946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8" name="gasDot50"/>
          <p:cNvSpPr/>
          <p:nvPr/>
        </p:nvSpPr>
        <p:spPr>
          <a:xfrm>
            <a:off x="9192006" y="256946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59" name="gasDot51"/>
          <p:cNvSpPr/>
          <p:nvPr/>
        </p:nvSpPr>
        <p:spPr>
          <a:xfrm>
            <a:off x="9388602" y="256946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0" name="gasDot52"/>
          <p:cNvSpPr/>
          <p:nvPr/>
        </p:nvSpPr>
        <p:spPr>
          <a:xfrm>
            <a:off x="9585198" y="256946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1" name="gasDot53"/>
          <p:cNvSpPr/>
          <p:nvPr/>
        </p:nvSpPr>
        <p:spPr>
          <a:xfrm>
            <a:off x="9781794" y="256946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2" name="gasDot54"/>
          <p:cNvSpPr/>
          <p:nvPr/>
        </p:nvSpPr>
        <p:spPr>
          <a:xfrm>
            <a:off x="9978390" y="256946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3" name="gasDot55"/>
          <p:cNvSpPr/>
          <p:nvPr/>
        </p:nvSpPr>
        <p:spPr>
          <a:xfrm>
            <a:off x="10174986" y="256946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4" name="gasDot56"/>
          <p:cNvSpPr/>
          <p:nvPr/>
        </p:nvSpPr>
        <p:spPr>
          <a:xfrm>
            <a:off x="10371582" y="256946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5" name="gasDot57"/>
          <p:cNvSpPr/>
          <p:nvPr/>
        </p:nvSpPr>
        <p:spPr>
          <a:xfrm>
            <a:off x="10568178" y="256946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6" name="gasDot58"/>
          <p:cNvSpPr/>
          <p:nvPr/>
        </p:nvSpPr>
        <p:spPr>
          <a:xfrm>
            <a:off x="10764774" y="256946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7" name="gasDot59"/>
          <p:cNvSpPr/>
          <p:nvPr/>
        </p:nvSpPr>
        <p:spPr>
          <a:xfrm>
            <a:off x="10961370" y="256946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8" name="gasDot60"/>
          <p:cNvSpPr/>
          <p:nvPr/>
        </p:nvSpPr>
        <p:spPr>
          <a:xfrm>
            <a:off x="7226046" y="276606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9" name="gasDot61"/>
          <p:cNvSpPr/>
          <p:nvPr/>
        </p:nvSpPr>
        <p:spPr>
          <a:xfrm>
            <a:off x="7422642" y="276606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0" name="gasDot62"/>
          <p:cNvSpPr/>
          <p:nvPr/>
        </p:nvSpPr>
        <p:spPr>
          <a:xfrm>
            <a:off x="7619238" y="276606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1" name="gasDot63"/>
          <p:cNvSpPr/>
          <p:nvPr/>
        </p:nvSpPr>
        <p:spPr>
          <a:xfrm>
            <a:off x="7815834" y="276606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2" name="gasDot64"/>
          <p:cNvSpPr/>
          <p:nvPr/>
        </p:nvSpPr>
        <p:spPr>
          <a:xfrm>
            <a:off x="8012430" y="276606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3" name="gasDot65"/>
          <p:cNvSpPr/>
          <p:nvPr/>
        </p:nvSpPr>
        <p:spPr>
          <a:xfrm>
            <a:off x="8209026" y="276606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4" name="gasDot66"/>
          <p:cNvSpPr/>
          <p:nvPr/>
        </p:nvSpPr>
        <p:spPr>
          <a:xfrm>
            <a:off x="8405622" y="276606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5" name="gasDot67"/>
          <p:cNvSpPr/>
          <p:nvPr/>
        </p:nvSpPr>
        <p:spPr>
          <a:xfrm>
            <a:off x="8602218" y="276606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6" name="gasDot68"/>
          <p:cNvSpPr/>
          <p:nvPr/>
        </p:nvSpPr>
        <p:spPr>
          <a:xfrm>
            <a:off x="8798814" y="276606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7" name="gasDot69"/>
          <p:cNvSpPr/>
          <p:nvPr/>
        </p:nvSpPr>
        <p:spPr>
          <a:xfrm>
            <a:off x="8995410" y="276606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8" name="gasDot70"/>
          <p:cNvSpPr/>
          <p:nvPr/>
        </p:nvSpPr>
        <p:spPr>
          <a:xfrm>
            <a:off x="9192006" y="276606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79" name="gasDot71"/>
          <p:cNvSpPr/>
          <p:nvPr/>
        </p:nvSpPr>
        <p:spPr>
          <a:xfrm>
            <a:off x="9388602" y="276606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0" name="gasDot72"/>
          <p:cNvSpPr/>
          <p:nvPr/>
        </p:nvSpPr>
        <p:spPr>
          <a:xfrm>
            <a:off x="9585198" y="276606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1" name="gasDot73"/>
          <p:cNvSpPr/>
          <p:nvPr/>
        </p:nvSpPr>
        <p:spPr>
          <a:xfrm>
            <a:off x="9781794" y="276606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2" name="gasDot74"/>
          <p:cNvSpPr/>
          <p:nvPr/>
        </p:nvSpPr>
        <p:spPr>
          <a:xfrm>
            <a:off x="9978390" y="276606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3" name="gasDot75"/>
          <p:cNvSpPr/>
          <p:nvPr/>
        </p:nvSpPr>
        <p:spPr>
          <a:xfrm>
            <a:off x="10174986" y="276606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4" name="gasDot76"/>
          <p:cNvSpPr/>
          <p:nvPr/>
        </p:nvSpPr>
        <p:spPr>
          <a:xfrm>
            <a:off x="10371582" y="276606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5" name="gasDot77"/>
          <p:cNvSpPr/>
          <p:nvPr/>
        </p:nvSpPr>
        <p:spPr>
          <a:xfrm>
            <a:off x="10568178" y="276606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6" name="gasDot78"/>
          <p:cNvSpPr/>
          <p:nvPr/>
        </p:nvSpPr>
        <p:spPr>
          <a:xfrm>
            <a:off x="10764774" y="276606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7" name="gasDot79"/>
          <p:cNvSpPr/>
          <p:nvPr/>
        </p:nvSpPr>
        <p:spPr>
          <a:xfrm>
            <a:off x="10961370" y="276606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8" name="gasDot80"/>
          <p:cNvSpPr/>
          <p:nvPr/>
        </p:nvSpPr>
        <p:spPr>
          <a:xfrm>
            <a:off x="7226046" y="296265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9" name="gasDot81"/>
          <p:cNvSpPr/>
          <p:nvPr/>
        </p:nvSpPr>
        <p:spPr>
          <a:xfrm>
            <a:off x="7422642" y="296265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0" name="gasDot82"/>
          <p:cNvSpPr/>
          <p:nvPr/>
        </p:nvSpPr>
        <p:spPr>
          <a:xfrm>
            <a:off x="7619238" y="296265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1" name="gasDot83"/>
          <p:cNvSpPr/>
          <p:nvPr/>
        </p:nvSpPr>
        <p:spPr>
          <a:xfrm>
            <a:off x="7815834" y="296265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2" name="gasDot84"/>
          <p:cNvSpPr/>
          <p:nvPr/>
        </p:nvSpPr>
        <p:spPr>
          <a:xfrm>
            <a:off x="8012430" y="296265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3" name="gasDot85"/>
          <p:cNvSpPr/>
          <p:nvPr/>
        </p:nvSpPr>
        <p:spPr>
          <a:xfrm>
            <a:off x="8209026" y="296265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4" name="gasDot86"/>
          <p:cNvSpPr/>
          <p:nvPr/>
        </p:nvSpPr>
        <p:spPr>
          <a:xfrm>
            <a:off x="8405622" y="296265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5" name="gasDot87"/>
          <p:cNvSpPr/>
          <p:nvPr/>
        </p:nvSpPr>
        <p:spPr>
          <a:xfrm>
            <a:off x="8602218" y="296265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6" name="gasDot88"/>
          <p:cNvSpPr/>
          <p:nvPr/>
        </p:nvSpPr>
        <p:spPr>
          <a:xfrm>
            <a:off x="8798814" y="296265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7" name="gasDot89"/>
          <p:cNvSpPr/>
          <p:nvPr/>
        </p:nvSpPr>
        <p:spPr>
          <a:xfrm>
            <a:off x="8995410" y="296265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8" name="gasDot90"/>
          <p:cNvSpPr/>
          <p:nvPr/>
        </p:nvSpPr>
        <p:spPr>
          <a:xfrm>
            <a:off x="9192006" y="296265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99" name="gasDot91"/>
          <p:cNvSpPr/>
          <p:nvPr/>
        </p:nvSpPr>
        <p:spPr>
          <a:xfrm>
            <a:off x="9388602" y="296265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0" name="gasDot92"/>
          <p:cNvSpPr/>
          <p:nvPr/>
        </p:nvSpPr>
        <p:spPr>
          <a:xfrm>
            <a:off x="9585198" y="296265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1" name="gasDot93"/>
          <p:cNvSpPr/>
          <p:nvPr/>
        </p:nvSpPr>
        <p:spPr>
          <a:xfrm>
            <a:off x="9781794" y="296265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2" name="gasDot94"/>
          <p:cNvSpPr/>
          <p:nvPr/>
        </p:nvSpPr>
        <p:spPr>
          <a:xfrm>
            <a:off x="9978390" y="296265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3" name="gasDot95"/>
          <p:cNvSpPr/>
          <p:nvPr/>
        </p:nvSpPr>
        <p:spPr>
          <a:xfrm>
            <a:off x="10174986" y="296265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4" name="gasDot96"/>
          <p:cNvSpPr/>
          <p:nvPr/>
        </p:nvSpPr>
        <p:spPr>
          <a:xfrm>
            <a:off x="10371582" y="296265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5" name="gasDot97"/>
          <p:cNvSpPr/>
          <p:nvPr/>
        </p:nvSpPr>
        <p:spPr>
          <a:xfrm>
            <a:off x="10568178" y="296265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6" name="gasDot98"/>
          <p:cNvSpPr/>
          <p:nvPr/>
        </p:nvSpPr>
        <p:spPr>
          <a:xfrm>
            <a:off x="10764774" y="296265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7" name="gasDot99"/>
          <p:cNvSpPr/>
          <p:nvPr/>
        </p:nvSpPr>
        <p:spPr>
          <a:xfrm>
            <a:off x="10961370" y="296265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8" name="gasDot100"/>
          <p:cNvSpPr/>
          <p:nvPr/>
        </p:nvSpPr>
        <p:spPr>
          <a:xfrm>
            <a:off x="7226046" y="315925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9" name="gasDot101"/>
          <p:cNvSpPr/>
          <p:nvPr/>
        </p:nvSpPr>
        <p:spPr>
          <a:xfrm>
            <a:off x="7422642" y="315925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0" name="gasDot102"/>
          <p:cNvSpPr/>
          <p:nvPr/>
        </p:nvSpPr>
        <p:spPr>
          <a:xfrm>
            <a:off x="7619238" y="315925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1" name="gasDot103"/>
          <p:cNvSpPr/>
          <p:nvPr/>
        </p:nvSpPr>
        <p:spPr>
          <a:xfrm>
            <a:off x="7815834" y="315925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2" name="gasDot104"/>
          <p:cNvSpPr/>
          <p:nvPr/>
        </p:nvSpPr>
        <p:spPr>
          <a:xfrm>
            <a:off x="8012430" y="315925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3" name="gasDot105"/>
          <p:cNvSpPr/>
          <p:nvPr/>
        </p:nvSpPr>
        <p:spPr>
          <a:xfrm>
            <a:off x="8209026" y="315925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4" name="gasDot106"/>
          <p:cNvSpPr/>
          <p:nvPr/>
        </p:nvSpPr>
        <p:spPr>
          <a:xfrm>
            <a:off x="8405622" y="315925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5" name="gasDot107"/>
          <p:cNvSpPr/>
          <p:nvPr/>
        </p:nvSpPr>
        <p:spPr>
          <a:xfrm>
            <a:off x="8602218" y="315925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6" name="gasDot108"/>
          <p:cNvSpPr/>
          <p:nvPr/>
        </p:nvSpPr>
        <p:spPr>
          <a:xfrm>
            <a:off x="8798814" y="315925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7" name="gasDot109"/>
          <p:cNvSpPr/>
          <p:nvPr/>
        </p:nvSpPr>
        <p:spPr>
          <a:xfrm>
            <a:off x="8995410" y="315925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8" name="gasDot110"/>
          <p:cNvSpPr/>
          <p:nvPr/>
        </p:nvSpPr>
        <p:spPr>
          <a:xfrm>
            <a:off x="9192006" y="315925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19" name="gasDot111"/>
          <p:cNvSpPr/>
          <p:nvPr/>
        </p:nvSpPr>
        <p:spPr>
          <a:xfrm>
            <a:off x="9388602" y="315925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0" name="gasDot112"/>
          <p:cNvSpPr/>
          <p:nvPr/>
        </p:nvSpPr>
        <p:spPr>
          <a:xfrm>
            <a:off x="9585198" y="315925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1" name="gasDot113"/>
          <p:cNvSpPr/>
          <p:nvPr/>
        </p:nvSpPr>
        <p:spPr>
          <a:xfrm>
            <a:off x="9781794" y="315925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2" name="gasDot114"/>
          <p:cNvSpPr/>
          <p:nvPr/>
        </p:nvSpPr>
        <p:spPr>
          <a:xfrm>
            <a:off x="9978390" y="315925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3" name="gasDot115"/>
          <p:cNvSpPr/>
          <p:nvPr/>
        </p:nvSpPr>
        <p:spPr>
          <a:xfrm>
            <a:off x="10174986" y="315925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4" name="gasDot116"/>
          <p:cNvSpPr/>
          <p:nvPr/>
        </p:nvSpPr>
        <p:spPr>
          <a:xfrm>
            <a:off x="10371582" y="315925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5" name="gasDot117"/>
          <p:cNvSpPr/>
          <p:nvPr/>
        </p:nvSpPr>
        <p:spPr>
          <a:xfrm>
            <a:off x="10568178" y="315925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6" name="gasDot118"/>
          <p:cNvSpPr/>
          <p:nvPr/>
        </p:nvSpPr>
        <p:spPr>
          <a:xfrm>
            <a:off x="10764774" y="315925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7" name="gasDot119"/>
          <p:cNvSpPr/>
          <p:nvPr/>
        </p:nvSpPr>
        <p:spPr>
          <a:xfrm>
            <a:off x="10961370" y="3159252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8" name="gasDot120"/>
          <p:cNvSpPr/>
          <p:nvPr/>
        </p:nvSpPr>
        <p:spPr>
          <a:xfrm>
            <a:off x="7226046" y="3355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9" name="gasDot121"/>
          <p:cNvSpPr/>
          <p:nvPr/>
        </p:nvSpPr>
        <p:spPr>
          <a:xfrm>
            <a:off x="7422642" y="3355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0" name="gasDot122"/>
          <p:cNvSpPr/>
          <p:nvPr/>
        </p:nvSpPr>
        <p:spPr>
          <a:xfrm>
            <a:off x="7619238" y="3355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1" name="gasDot123"/>
          <p:cNvSpPr/>
          <p:nvPr/>
        </p:nvSpPr>
        <p:spPr>
          <a:xfrm>
            <a:off x="7815834" y="3355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2" name="gasDot124"/>
          <p:cNvSpPr/>
          <p:nvPr/>
        </p:nvSpPr>
        <p:spPr>
          <a:xfrm>
            <a:off x="8012430" y="3355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3" name="gasDot125"/>
          <p:cNvSpPr/>
          <p:nvPr/>
        </p:nvSpPr>
        <p:spPr>
          <a:xfrm>
            <a:off x="8209026" y="3355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4" name="gasDot126"/>
          <p:cNvSpPr/>
          <p:nvPr/>
        </p:nvSpPr>
        <p:spPr>
          <a:xfrm>
            <a:off x="8405622" y="3355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5" name="gasDot127"/>
          <p:cNvSpPr/>
          <p:nvPr/>
        </p:nvSpPr>
        <p:spPr>
          <a:xfrm>
            <a:off x="8602218" y="3355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6" name="gasDot128"/>
          <p:cNvSpPr/>
          <p:nvPr/>
        </p:nvSpPr>
        <p:spPr>
          <a:xfrm>
            <a:off x="8798814" y="3355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7" name="gasDot129"/>
          <p:cNvSpPr/>
          <p:nvPr/>
        </p:nvSpPr>
        <p:spPr>
          <a:xfrm>
            <a:off x="8995410" y="3355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8" name="gasDot130"/>
          <p:cNvSpPr/>
          <p:nvPr/>
        </p:nvSpPr>
        <p:spPr>
          <a:xfrm>
            <a:off x="9192006" y="3355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39" name="gasDot131"/>
          <p:cNvSpPr/>
          <p:nvPr/>
        </p:nvSpPr>
        <p:spPr>
          <a:xfrm>
            <a:off x="9388602" y="3355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0" name="gasDot132"/>
          <p:cNvSpPr/>
          <p:nvPr/>
        </p:nvSpPr>
        <p:spPr>
          <a:xfrm>
            <a:off x="9585198" y="3355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1" name="gasDot133"/>
          <p:cNvSpPr/>
          <p:nvPr/>
        </p:nvSpPr>
        <p:spPr>
          <a:xfrm>
            <a:off x="9781794" y="3355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2" name="gasDot134"/>
          <p:cNvSpPr/>
          <p:nvPr/>
        </p:nvSpPr>
        <p:spPr>
          <a:xfrm>
            <a:off x="9978390" y="3355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3" name="gasDot135"/>
          <p:cNvSpPr/>
          <p:nvPr/>
        </p:nvSpPr>
        <p:spPr>
          <a:xfrm>
            <a:off x="10174986" y="3355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4" name="gasDot136"/>
          <p:cNvSpPr/>
          <p:nvPr/>
        </p:nvSpPr>
        <p:spPr>
          <a:xfrm>
            <a:off x="10371582" y="3355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5" name="gasDot137"/>
          <p:cNvSpPr/>
          <p:nvPr/>
        </p:nvSpPr>
        <p:spPr>
          <a:xfrm>
            <a:off x="10568178" y="3355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6" name="gasDot138"/>
          <p:cNvSpPr/>
          <p:nvPr/>
        </p:nvSpPr>
        <p:spPr>
          <a:xfrm>
            <a:off x="10764774" y="3355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7" name="gasDot139"/>
          <p:cNvSpPr/>
          <p:nvPr/>
        </p:nvSpPr>
        <p:spPr>
          <a:xfrm>
            <a:off x="10961370" y="3355848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8" name="gasDot140"/>
          <p:cNvSpPr/>
          <p:nvPr/>
        </p:nvSpPr>
        <p:spPr>
          <a:xfrm>
            <a:off x="7226046" y="3552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49" name="gasDot141"/>
          <p:cNvSpPr/>
          <p:nvPr/>
        </p:nvSpPr>
        <p:spPr>
          <a:xfrm>
            <a:off x="7422642" y="3552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0" name="gasDot142"/>
          <p:cNvSpPr/>
          <p:nvPr/>
        </p:nvSpPr>
        <p:spPr>
          <a:xfrm>
            <a:off x="7619238" y="3552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1" name="gasDot143"/>
          <p:cNvSpPr/>
          <p:nvPr/>
        </p:nvSpPr>
        <p:spPr>
          <a:xfrm>
            <a:off x="7815834" y="3552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2" name="gasDot144"/>
          <p:cNvSpPr/>
          <p:nvPr/>
        </p:nvSpPr>
        <p:spPr>
          <a:xfrm>
            <a:off x="8012430" y="3552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3" name="gasDot145"/>
          <p:cNvSpPr/>
          <p:nvPr/>
        </p:nvSpPr>
        <p:spPr>
          <a:xfrm>
            <a:off x="8209026" y="3552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4" name="gasDot146"/>
          <p:cNvSpPr/>
          <p:nvPr/>
        </p:nvSpPr>
        <p:spPr>
          <a:xfrm>
            <a:off x="8405622" y="3552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5" name="gasDot147"/>
          <p:cNvSpPr/>
          <p:nvPr/>
        </p:nvSpPr>
        <p:spPr>
          <a:xfrm>
            <a:off x="8602218" y="3552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6" name="gasDot148"/>
          <p:cNvSpPr/>
          <p:nvPr/>
        </p:nvSpPr>
        <p:spPr>
          <a:xfrm>
            <a:off x="8798814" y="3552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7" name="gasDot149"/>
          <p:cNvSpPr/>
          <p:nvPr/>
        </p:nvSpPr>
        <p:spPr>
          <a:xfrm>
            <a:off x="8995410" y="3552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8" name="gasDot150"/>
          <p:cNvSpPr/>
          <p:nvPr/>
        </p:nvSpPr>
        <p:spPr>
          <a:xfrm>
            <a:off x="9192006" y="3552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59" name="gasDot151"/>
          <p:cNvSpPr/>
          <p:nvPr/>
        </p:nvSpPr>
        <p:spPr>
          <a:xfrm>
            <a:off x="9388602" y="3552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0" name="gasDot152"/>
          <p:cNvSpPr/>
          <p:nvPr/>
        </p:nvSpPr>
        <p:spPr>
          <a:xfrm>
            <a:off x="9585198" y="3552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1" name="gasDot153"/>
          <p:cNvSpPr/>
          <p:nvPr/>
        </p:nvSpPr>
        <p:spPr>
          <a:xfrm>
            <a:off x="9781794" y="3552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2" name="gasDot154"/>
          <p:cNvSpPr/>
          <p:nvPr/>
        </p:nvSpPr>
        <p:spPr>
          <a:xfrm>
            <a:off x="9978390" y="3552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3" name="gasDot155"/>
          <p:cNvSpPr/>
          <p:nvPr/>
        </p:nvSpPr>
        <p:spPr>
          <a:xfrm>
            <a:off x="10174986" y="3552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4" name="gasDot156"/>
          <p:cNvSpPr/>
          <p:nvPr/>
        </p:nvSpPr>
        <p:spPr>
          <a:xfrm>
            <a:off x="10371582" y="3552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5" name="gasDot157"/>
          <p:cNvSpPr/>
          <p:nvPr/>
        </p:nvSpPr>
        <p:spPr>
          <a:xfrm>
            <a:off x="10568178" y="3552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6" name="gasDot158"/>
          <p:cNvSpPr/>
          <p:nvPr/>
        </p:nvSpPr>
        <p:spPr>
          <a:xfrm>
            <a:off x="10764774" y="3552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7" name="gasDot159"/>
          <p:cNvSpPr/>
          <p:nvPr/>
        </p:nvSpPr>
        <p:spPr>
          <a:xfrm>
            <a:off x="10961370" y="3552444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8" name="gasDot160"/>
          <p:cNvSpPr/>
          <p:nvPr/>
        </p:nvSpPr>
        <p:spPr>
          <a:xfrm>
            <a:off x="7226046" y="3749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69" name="gasDot161"/>
          <p:cNvSpPr/>
          <p:nvPr/>
        </p:nvSpPr>
        <p:spPr>
          <a:xfrm>
            <a:off x="7422642" y="3749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0" name="gasDot162"/>
          <p:cNvSpPr/>
          <p:nvPr/>
        </p:nvSpPr>
        <p:spPr>
          <a:xfrm>
            <a:off x="7619238" y="3749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1" name="gasDot163"/>
          <p:cNvSpPr/>
          <p:nvPr/>
        </p:nvSpPr>
        <p:spPr>
          <a:xfrm>
            <a:off x="7815834" y="3749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2" name="gasDot164"/>
          <p:cNvSpPr/>
          <p:nvPr/>
        </p:nvSpPr>
        <p:spPr>
          <a:xfrm>
            <a:off x="8012430" y="3749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3" name="gasDot165"/>
          <p:cNvSpPr/>
          <p:nvPr/>
        </p:nvSpPr>
        <p:spPr>
          <a:xfrm>
            <a:off x="8209026" y="3749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4" name="gasDot166"/>
          <p:cNvSpPr/>
          <p:nvPr/>
        </p:nvSpPr>
        <p:spPr>
          <a:xfrm>
            <a:off x="8405622" y="3749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5" name="gasDot167"/>
          <p:cNvSpPr/>
          <p:nvPr/>
        </p:nvSpPr>
        <p:spPr>
          <a:xfrm>
            <a:off x="8602218" y="3749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6" name="gasDot168"/>
          <p:cNvSpPr/>
          <p:nvPr/>
        </p:nvSpPr>
        <p:spPr>
          <a:xfrm>
            <a:off x="8798814" y="3749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7" name="gasDot169"/>
          <p:cNvSpPr/>
          <p:nvPr/>
        </p:nvSpPr>
        <p:spPr>
          <a:xfrm>
            <a:off x="8995410" y="3749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8" name="gasDot170"/>
          <p:cNvSpPr/>
          <p:nvPr/>
        </p:nvSpPr>
        <p:spPr>
          <a:xfrm>
            <a:off x="9192006" y="3749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79" name="gasDot171"/>
          <p:cNvSpPr/>
          <p:nvPr/>
        </p:nvSpPr>
        <p:spPr>
          <a:xfrm>
            <a:off x="9388602" y="3749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0" name="gasDot172"/>
          <p:cNvSpPr/>
          <p:nvPr/>
        </p:nvSpPr>
        <p:spPr>
          <a:xfrm>
            <a:off x="9585198" y="3749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1" name="gasDot173"/>
          <p:cNvSpPr/>
          <p:nvPr/>
        </p:nvSpPr>
        <p:spPr>
          <a:xfrm>
            <a:off x="9781794" y="3749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2" name="gasDot174"/>
          <p:cNvSpPr/>
          <p:nvPr/>
        </p:nvSpPr>
        <p:spPr>
          <a:xfrm>
            <a:off x="9978390" y="3749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3" name="gasDot175"/>
          <p:cNvSpPr/>
          <p:nvPr/>
        </p:nvSpPr>
        <p:spPr>
          <a:xfrm>
            <a:off x="10174986" y="3749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4" name="gasDot176"/>
          <p:cNvSpPr/>
          <p:nvPr/>
        </p:nvSpPr>
        <p:spPr>
          <a:xfrm>
            <a:off x="10371582" y="3749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5" name="gasDot177"/>
          <p:cNvSpPr/>
          <p:nvPr/>
        </p:nvSpPr>
        <p:spPr>
          <a:xfrm>
            <a:off x="10568178" y="3749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6" name="gasDot178"/>
          <p:cNvSpPr/>
          <p:nvPr/>
        </p:nvSpPr>
        <p:spPr>
          <a:xfrm>
            <a:off x="10764774" y="3749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7" name="gasDot179"/>
          <p:cNvSpPr/>
          <p:nvPr/>
        </p:nvSpPr>
        <p:spPr>
          <a:xfrm>
            <a:off x="10961370" y="3749040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8" name="gasDot180"/>
          <p:cNvSpPr/>
          <p:nvPr/>
        </p:nvSpPr>
        <p:spPr>
          <a:xfrm>
            <a:off x="7226046" y="3945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89" name="gasDot181"/>
          <p:cNvSpPr/>
          <p:nvPr/>
        </p:nvSpPr>
        <p:spPr>
          <a:xfrm>
            <a:off x="7422642" y="3945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0" name="gasDot182"/>
          <p:cNvSpPr/>
          <p:nvPr/>
        </p:nvSpPr>
        <p:spPr>
          <a:xfrm>
            <a:off x="7619238" y="3945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1" name="gasDot183"/>
          <p:cNvSpPr/>
          <p:nvPr/>
        </p:nvSpPr>
        <p:spPr>
          <a:xfrm>
            <a:off x="7815834" y="3945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2" name="gasDot184"/>
          <p:cNvSpPr/>
          <p:nvPr/>
        </p:nvSpPr>
        <p:spPr>
          <a:xfrm>
            <a:off x="8012430" y="3945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3" name="gasDot185"/>
          <p:cNvSpPr/>
          <p:nvPr/>
        </p:nvSpPr>
        <p:spPr>
          <a:xfrm>
            <a:off x="8209026" y="3945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4" name="gasDot186"/>
          <p:cNvSpPr/>
          <p:nvPr/>
        </p:nvSpPr>
        <p:spPr>
          <a:xfrm>
            <a:off x="8405622" y="3945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5" name="gasDot187"/>
          <p:cNvSpPr/>
          <p:nvPr/>
        </p:nvSpPr>
        <p:spPr>
          <a:xfrm>
            <a:off x="8602218" y="3945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6" name="gasDot188"/>
          <p:cNvSpPr/>
          <p:nvPr/>
        </p:nvSpPr>
        <p:spPr>
          <a:xfrm>
            <a:off x="8798814" y="3945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7" name="gasDot189"/>
          <p:cNvSpPr/>
          <p:nvPr/>
        </p:nvSpPr>
        <p:spPr>
          <a:xfrm>
            <a:off x="8995410" y="3945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8" name="gasDot190"/>
          <p:cNvSpPr/>
          <p:nvPr/>
        </p:nvSpPr>
        <p:spPr>
          <a:xfrm>
            <a:off x="9192006" y="3945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99" name="gasDot191"/>
          <p:cNvSpPr/>
          <p:nvPr/>
        </p:nvSpPr>
        <p:spPr>
          <a:xfrm>
            <a:off x="9388602" y="3945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0" name="gasDot192"/>
          <p:cNvSpPr/>
          <p:nvPr/>
        </p:nvSpPr>
        <p:spPr>
          <a:xfrm>
            <a:off x="9585198" y="3945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1" name="gasDot193"/>
          <p:cNvSpPr/>
          <p:nvPr/>
        </p:nvSpPr>
        <p:spPr>
          <a:xfrm>
            <a:off x="9781794" y="3945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2" name="gasDot194"/>
          <p:cNvSpPr/>
          <p:nvPr/>
        </p:nvSpPr>
        <p:spPr>
          <a:xfrm>
            <a:off x="9978390" y="3945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3" name="gasDot195"/>
          <p:cNvSpPr/>
          <p:nvPr/>
        </p:nvSpPr>
        <p:spPr>
          <a:xfrm>
            <a:off x="10174986" y="3945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4" name="gasDot196"/>
          <p:cNvSpPr/>
          <p:nvPr/>
        </p:nvSpPr>
        <p:spPr>
          <a:xfrm>
            <a:off x="10371582" y="3945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5" name="gasDot197"/>
          <p:cNvSpPr/>
          <p:nvPr/>
        </p:nvSpPr>
        <p:spPr>
          <a:xfrm>
            <a:off x="10568178" y="3945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6" name="gasDot198"/>
          <p:cNvSpPr/>
          <p:nvPr/>
        </p:nvSpPr>
        <p:spPr>
          <a:xfrm>
            <a:off x="10764774" y="3945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7" name="gasDot199"/>
          <p:cNvSpPr/>
          <p:nvPr/>
        </p:nvSpPr>
        <p:spPr>
          <a:xfrm>
            <a:off x="10961370" y="3945636"/>
            <a:ext cx="137160" cy="137160"/>
          </a:xfrm>
          <a:prstGeom prst="ellipse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208" name="evChip"/>
          <p:cNvSpPr txBox="1"/>
          <p:nvPr/>
        </p:nvSpPr>
        <p:spPr>
          <a:xfrm>
            <a:off x="7196328" y="4325112"/>
            <a:ext cx="1143000" cy="384048"/>
          </a:xfrm>
          <a:prstGeom prst="roundRect">
            <a:avLst>
              <a:gd name="adj" fmla="val 47619"/>
            </a:avLst>
          </a:prstGeom>
          <a:solidFill>
            <a:srgbClr val="2FA35F"/>
          </a:solidFill>
          <a:ln>
            <a:solidFill>
              <a:srgbClr val="2FA3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电动车</a:t>
            </a:r>
            <a:endParaRPr lang="en-US" sz="1600" dirty="0"/>
          </a:p>
        </p:txBody>
      </p:sp>
      <p:sp>
        <p:nvSpPr>
          <p:cNvPr id="209" name="evCount"/>
          <p:cNvSpPr txBox="1"/>
          <p:nvPr/>
        </p:nvSpPr>
        <p:spPr>
          <a:xfrm>
            <a:off x="8458200" y="427024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A35F"/>
                </a:solidFill>
              </a:rPr>
              <a:t>≈ 20</a:t>
            </a:r>
            <a:pPr indent="0" marL="0">
              <a:buNone/>
            </a:pPr>
            <a:r>
              <a:rPr lang="en-US" sz="1600" dirty="0">
                <a:solidFill>
                  <a:srgbClr val="4A3B30"/>
                </a:solidFill>
              </a:rPr>
              <a:t> 个</a:t>
            </a:r>
            <a:endParaRPr lang="en-US" sz="2600" dirty="0"/>
          </a:p>
        </p:txBody>
      </p:sp>
      <p:sp>
        <p:nvSpPr>
          <p:cNvPr id="210" name="evDot0"/>
          <p:cNvSpPr/>
          <p:nvPr/>
        </p:nvSpPr>
        <p:spPr>
          <a:xfrm>
            <a:off x="9738360" y="4434840"/>
            <a:ext cx="164592" cy="164592"/>
          </a:xfrm>
          <a:prstGeom prst="ellipse">
            <a:avLst/>
          </a:prstGeom>
          <a:solidFill>
            <a:srgbClr val="2FA35F"/>
          </a:solidFill>
          <a:ln w="12700">
            <a:solidFill>
              <a:srgbClr val="2FA35F"/>
            </a:solidFill>
            <a:prstDash val="solid"/>
          </a:ln>
        </p:spPr>
      </p:sp>
      <p:sp>
        <p:nvSpPr>
          <p:cNvPr id="211" name="evDot1"/>
          <p:cNvSpPr/>
          <p:nvPr/>
        </p:nvSpPr>
        <p:spPr>
          <a:xfrm>
            <a:off x="10012680" y="4434840"/>
            <a:ext cx="164592" cy="164592"/>
          </a:xfrm>
          <a:prstGeom prst="ellipse">
            <a:avLst/>
          </a:prstGeom>
          <a:solidFill>
            <a:srgbClr val="2FA35F"/>
          </a:solidFill>
          <a:ln w="12700">
            <a:solidFill>
              <a:srgbClr val="2FA35F"/>
            </a:solidFill>
            <a:prstDash val="solid"/>
          </a:ln>
        </p:spPr>
      </p:sp>
      <p:sp>
        <p:nvSpPr>
          <p:cNvPr id="212" name="dotLegend"/>
          <p:cNvSpPr txBox="1"/>
          <p:nvPr/>
        </p:nvSpPr>
        <p:spPr>
          <a:xfrm>
            <a:off x="7196328" y="47731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A6A5C"/>
                </a:solidFill>
              </a:rPr>
              <a:t>每个小圆点 = 10 个会动的零件</a:t>
            </a:r>
            <a:endParaRPr lang="en-US" sz="1300" dirty="0"/>
          </a:p>
        </p:txBody>
      </p:sp>
      <p:sp>
        <p:nvSpPr>
          <p:cNvPr id="213" name="takeaway"/>
          <p:cNvSpPr txBox="1"/>
          <p:nvPr/>
        </p:nvSpPr>
        <p:spPr>
          <a:xfrm>
            <a:off x="859536" y="5394960"/>
            <a:ext cx="10469880" cy="822960"/>
          </a:xfrm>
          <a:prstGeom prst="roundRect">
            <a:avLst>
              <a:gd name="adj" fmla="val 24444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152400" tIns="203200" rIns="203200" bIns="1524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零件越少，结构越简单：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电动车会动的零件只有汽油车的大约 1/100，更不容易坏、更好修。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结构大 PK：谁的路更短？</a:t>
            </a:r>
            <a:endParaRPr lang="en-US" sz="3200" dirty="0"/>
          </a:p>
        </p:txBody>
      </p:sp>
      <p:sp>
        <p:nvSpPr>
          <p:cNvPr id="3" name="gasLabel"/>
          <p:cNvSpPr txBox="1"/>
          <p:nvPr/>
        </p:nvSpPr>
        <p:spPr>
          <a:xfrm>
            <a:off x="859536" y="1481328"/>
            <a:ext cx="1188720" cy="603504"/>
          </a:xfrm>
          <a:prstGeom prst="roundRect">
            <a:avLst>
              <a:gd name="adj" fmla="val 30303"/>
            </a:avLst>
          </a:prstGeom>
          <a:solidFill>
            <a:srgbClr val="E8771A"/>
          </a:solidFill>
          <a:ln>
            <a:solidFill>
              <a:srgbClr val="E877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汽油车</a:t>
            </a:r>
            <a:endParaRPr lang="en-US" sz="2000" dirty="0"/>
          </a:p>
        </p:txBody>
      </p:sp>
      <p:sp>
        <p:nvSpPr>
          <p:cNvPr id="4" name="gas0"/>
          <p:cNvSpPr txBox="1"/>
          <p:nvPr/>
        </p:nvSpPr>
        <p:spPr>
          <a:xfrm>
            <a:off x="2286000" y="1481328"/>
            <a:ext cx="1371600" cy="603504"/>
          </a:xfrm>
          <a:prstGeom prst="roundRect">
            <a:avLst>
              <a:gd name="adj" fmla="val 22727"/>
            </a:avLst>
          </a:prstGeom>
          <a:solidFill>
            <a:srgbClr val="FCE6D2"/>
          </a:solidFill>
          <a:ln w="19050">
            <a:solidFill>
              <a:srgbClr val="E877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3B30"/>
                </a:solidFill>
              </a:rPr>
              <a:t>油箱</a:t>
            </a:r>
            <a:endParaRPr lang="en-US" sz="2000" dirty="0"/>
          </a:p>
        </p:txBody>
      </p:sp>
      <p:sp>
        <p:nvSpPr>
          <p:cNvPr id="5" name="gasArrow0"/>
          <p:cNvSpPr/>
          <p:nvPr/>
        </p:nvSpPr>
        <p:spPr>
          <a:xfrm>
            <a:off x="3749040" y="1645920"/>
            <a:ext cx="384048" cy="274320"/>
          </a:xfrm>
          <a:prstGeom prst="rightArrow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6" name="gas1"/>
          <p:cNvSpPr txBox="1"/>
          <p:nvPr/>
        </p:nvSpPr>
        <p:spPr>
          <a:xfrm>
            <a:off x="4224528" y="1481328"/>
            <a:ext cx="1371600" cy="603504"/>
          </a:xfrm>
          <a:prstGeom prst="roundRect">
            <a:avLst>
              <a:gd name="adj" fmla="val 22727"/>
            </a:avLst>
          </a:prstGeom>
          <a:solidFill>
            <a:srgbClr val="FCE6D2"/>
          </a:solidFill>
          <a:ln w="19050">
            <a:solidFill>
              <a:srgbClr val="E877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3B30"/>
                </a:solidFill>
              </a:rPr>
              <a:t>发动机</a:t>
            </a:r>
            <a:endParaRPr lang="en-US" sz="2000" dirty="0"/>
          </a:p>
        </p:txBody>
      </p:sp>
      <p:sp>
        <p:nvSpPr>
          <p:cNvPr id="7" name="gasArrow1"/>
          <p:cNvSpPr/>
          <p:nvPr/>
        </p:nvSpPr>
        <p:spPr>
          <a:xfrm>
            <a:off x="5687568" y="1645920"/>
            <a:ext cx="384048" cy="274320"/>
          </a:xfrm>
          <a:prstGeom prst="rightArrow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8" name="gas2"/>
          <p:cNvSpPr txBox="1"/>
          <p:nvPr/>
        </p:nvSpPr>
        <p:spPr>
          <a:xfrm>
            <a:off x="6163056" y="1481328"/>
            <a:ext cx="1371600" cy="603504"/>
          </a:xfrm>
          <a:prstGeom prst="roundRect">
            <a:avLst>
              <a:gd name="adj" fmla="val 22727"/>
            </a:avLst>
          </a:prstGeom>
          <a:solidFill>
            <a:srgbClr val="FCE6D2"/>
          </a:solidFill>
          <a:ln w="19050">
            <a:solidFill>
              <a:srgbClr val="E877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3B30"/>
                </a:solidFill>
              </a:rPr>
              <a:t>变速箱</a:t>
            </a:r>
            <a:endParaRPr lang="en-US" sz="2000" dirty="0"/>
          </a:p>
        </p:txBody>
      </p:sp>
      <p:sp>
        <p:nvSpPr>
          <p:cNvPr id="9" name="gasArrow2"/>
          <p:cNvSpPr/>
          <p:nvPr/>
        </p:nvSpPr>
        <p:spPr>
          <a:xfrm>
            <a:off x="7626096" y="1645920"/>
            <a:ext cx="384048" cy="274320"/>
          </a:xfrm>
          <a:prstGeom prst="rightArrow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0" name="gas3"/>
          <p:cNvSpPr txBox="1"/>
          <p:nvPr/>
        </p:nvSpPr>
        <p:spPr>
          <a:xfrm>
            <a:off x="8101584" y="1481328"/>
            <a:ext cx="1371600" cy="603504"/>
          </a:xfrm>
          <a:prstGeom prst="roundRect">
            <a:avLst>
              <a:gd name="adj" fmla="val 22727"/>
            </a:avLst>
          </a:prstGeom>
          <a:solidFill>
            <a:srgbClr val="FCE6D2"/>
          </a:solidFill>
          <a:ln w="19050">
            <a:solidFill>
              <a:srgbClr val="E877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3B30"/>
                </a:solidFill>
              </a:rPr>
              <a:t>传动轴</a:t>
            </a:r>
            <a:endParaRPr lang="en-US" sz="2000" dirty="0"/>
          </a:p>
        </p:txBody>
      </p:sp>
      <p:sp>
        <p:nvSpPr>
          <p:cNvPr id="11" name="gasArrow3"/>
          <p:cNvSpPr/>
          <p:nvPr/>
        </p:nvSpPr>
        <p:spPr>
          <a:xfrm>
            <a:off x="9564624" y="1645920"/>
            <a:ext cx="384048" cy="274320"/>
          </a:xfrm>
          <a:prstGeom prst="rightArrow">
            <a:avLst/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12" name="gas4"/>
          <p:cNvSpPr txBox="1"/>
          <p:nvPr/>
        </p:nvSpPr>
        <p:spPr>
          <a:xfrm>
            <a:off x="10040112" y="1481328"/>
            <a:ext cx="1371600" cy="603504"/>
          </a:xfrm>
          <a:prstGeom prst="roundRect">
            <a:avLst>
              <a:gd name="adj" fmla="val 22727"/>
            </a:avLst>
          </a:prstGeom>
          <a:solidFill>
            <a:srgbClr val="FCE6D2"/>
          </a:solidFill>
          <a:ln w="19050">
            <a:solidFill>
              <a:srgbClr val="E877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3B30"/>
                </a:solidFill>
              </a:rPr>
              <a:t>车轮</a:t>
            </a:r>
            <a:endParaRPr lang="en-US" sz="2000" dirty="0"/>
          </a:p>
        </p:txBody>
      </p:sp>
      <p:sp>
        <p:nvSpPr>
          <p:cNvPr id="13" name="helpersLabel"/>
          <p:cNvSpPr txBox="1"/>
          <p:nvPr/>
        </p:nvSpPr>
        <p:spPr>
          <a:xfrm>
            <a:off x="2286000" y="224028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6A5C"/>
                </a:solidFill>
              </a:rPr>
              <a:t>还要帮手：</a:t>
            </a:r>
            <a:endParaRPr lang="en-US" sz="1600" dirty="0"/>
          </a:p>
        </p:txBody>
      </p:sp>
      <p:sp>
        <p:nvSpPr>
          <p:cNvPr id="14" name="helper0"/>
          <p:cNvSpPr txBox="1"/>
          <p:nvPr/>
        </p:nvSpPr>
        <p:spPr>
          <a:xfrm>
            <a:off x="3520440" y="2240280"/>
            <a:ext cx="105156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E8771A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3B30"/>
                </a:solidFill>
              </a:rPr>
              <a:t>散热器</a:t>
            </a:r>
            <a:endParaRPr lang="en-US" sz="1600" dirty="0"/>
          </a:p>
        </p:txBody>
      </p:sp>
      <p:sp>
        <p:nvSpPr>
          <p:cNvPr id="15" name="helper1"/>
          <p:cNvSpPr txBox="1"/>
          <p:nvPr/>
        </p:nvSpPr>
        <p:spPr>
          <a:xfrm>
            <a:off x="4709160" y="2240280"/>
            <a:ext cx="105156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E8771A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3B30"/>
                </a:solidFill>
              </a:rPr>
              <a:t>机油</a:t>
            </a:r>
            <a:endParaRPr lang="en-US" sz="1600" dirty="0"/>
          </a:p>
        </p:txBody>
      </p:sp>
      <p:sp>
        <p:nvSpPr>
          <p:cNvPr id="16" name="helper2"/>
          <p:cNvSpPr txBox="1"/>
          <p:nvPr/>
        </p:nvSpPr>
        <p:spPr>
          <a:xfrm>
            <a:off x="5897880" y="2240280"/>
            <a:ext cx="105156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E8771A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3B30"/>
                </a:solidFill>
              </a:rPr>
              <a:t>排气管</a:t>
            </a:r>
            <a:endParaRPr lang="en-US" sz="1600" dirty="0"/>
          </a:p>
        </p:txBody>
      </p:sp>
      <p:sp>
        <p:nvSpPr>
          <p:cNvPr id="17" name="evLabel"/>
          <p:cNvSpPr txBox="1"/>
          <p:nvPr/>
        </p:nvSpPr>
        <p:spPr>
          <a:xfrm>
            <a:off x="859536" y="2926080"/>
            <a:ext cx="1188720" cy="603504"/>
          </a:xfrm>
          <a:prstGeom prst="roundRect">
            <a:avLst>
              <a:gd name="adj" fmla="val 30303"/>
            </a:avLst>
          </a:prstGeom>
          <a:solidFill>
            <a:srgbClr val="2FA35F"/>
          </a:solidFill>
          <a:ln>
            <a:solidFill>
              <a:srgbClr val="2FA3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电动车</a:t>
            </a:r>
            <a:endParaRPr lang="en-US" sz="2000" dirty="0"/>
          </a:p>
        </p:txBody>
      </p:sp>
      <p:sp>
        <p:nvSpPr>
          <p:cNvPr id="18" name="ev0"/>
          <p:cNvSpPr txBox="1"/>
          <p:nvPr/>
        </p:nvSpPr>
        <p:spPr>
          <a:xfrm>
            <a:off x="2286000" y="2926080"/>
            <a:ext cx="1371600" cy="603504"/>
          </a:xfrm>
          <a:prstGeom prst="roundRect">
            <a:avLst>
              <a:gd name="adj" fmla="val 22727"/>
            </a:avLst>
          </a:prstGeom>
          <a:solidFill>
            <a:srgbClr val="DDF2E5"/>
          </a:solidFill>
          <a:ln w="19050">
            <a:solidFill>
              <a:srgbClr val="2FA3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3B30"/>
                </a:solidFill>
              </a:rPr>
              <a:t>电池包</a:t>
            </a:r>
            <a:endParaRPr lang="en-US" sz="2000" dirty="0"/>
          </a:p>
        </p:txBody>
      </p:sp>
      <p:sp>
        <p:nvSpPr>
          <p:cNvPr id="19" name="evArrow0"/>
          <p:cNvSpPr/>
          <p:nvPr/>
        </p:nvSpPr>
        <p:spPr>
          <a:xfrm>
            <a:off x="3749040" y="3090672"/>
            <a:ext cx="384048" cy="274320"/>
          </a:xfrm>
          <a:prstGeom prst="rightArrow">
            <a:avLst/>
          </a:prstGeom>
          <a:solidFill>
            <a:srgbClr val="2FA35F"/>
          </a:solidFill>
          <a:ln w="12700">
            <a:solidFill>
              <a:srgbClr val="2FA35F"/>
            </a:solidFill>
            <a:prstDash val="solid"/>
          </a:ln>
        </p:spPr>
      </p:sp>
      <p:sp>
        <p:nvSpPr>
          <p:cNvPr id="20" name="ev1"/>
          <p:cNvSpPr txBox="1"/>
          <p:nvPr/>
        </p:nvSpPr>
        <p:spPr>
          <a:xfrm>
            <a:off x="4224528" y="2926080"/>
            <a:ext cx="1371600" cy="603504"/>
          </a:xfrm>
          <a:prstGeom prst="roundRect">
            <a:avLst>
              <a:gd name="adj" fmla="val 22727"/>
            </a:avLst>
          </a:prstGeom>
          <a:solidFill>
            <a:srgbClr val="DDF2E5"/>
          </a:solidFill>
          <a:ln w="19050">
            <a:solidFill>
              <a:srgbClr val="2FA3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3B30"/>
                </a:solidFill>
              </a:rPr>
              <a:t>电控</a:t>
            </a:r>
            <a:endParaRPr lang="en-US" sz="2000" dirty="0"/>
          </a:p>
        </p:txBody>
      </p:sp>
      <p:sp>
        <p:nvSpPr>
          <p:cNvPr id="21" name="evArrow1"/>
          <p:cNvSpPr/>
          <p:nvPr/>
        </p:nvSpPr>
        <p:spPr>
          <a:xfrm>
            <a:off x="5687568" y="3090672"/>
            <a:ext cx="384048" cy="274320"/>
          </a:xfrm>
          <a:prstGeom prst="rightArrow">
            <a:avLst/>
          </a:prstGeom>
          <a:solidFill>
            <a:srgbClr val="2FA35F"/>
          </a:solidFill>
          <a:ln w="12700">
            <a:solidFill>
              <a:srgbClr val="2FA35F"/>
            </a:solidFill>
            <a:prstDash val="solid"/>
          </a:ln>
        </p:spPr>
      </p:sp>
      <p:sp>
        <p:nvSpPr>
          <p:cNvPr id="22" name="ev2"/>
          <p:cNvSpPr txBox="1"/>
          <p:nvPr/>
        </p:nvSpPr>
        <p:spPr>
          <a:xfrm>
            <a:off x="6163056" y="2926080"/>
            <a:ext cx="1371600" cy="603504"/>
          </a:xfrm>
          <a:prstGeom prst="roundRect">
            <a:avLst>
              <a:gd name="adj" fmla="val 22727"/>
            </a:avLst>
          </a:prstGeom>
          <a:solidFill>
            <a:srgbClr val="DDF2E5"/>
          </a:solidFill>
          <a:ln w="19050">
            <a:solidFill>
              <a:srgbClr val="2FA3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3B30"/>
                </a:solidFill>
              </a:rPr>
              <a:t>电机</a:t>
            </a:r>
            <a:endParaRPr lang="en-US" sz="2000" dirty="0"/>
          </a:p>
        </p:txBody>
      </p:sp>
      <p:sp>
        <p:nvSpPr>
          <p:cNvPr id="23" name="evArrow2"/>
          <p:cNvSpPr/>
          <p:nvPr/>
        </p:nvSpPr>
        <p:spPr>
          <a:xfrm>
            <a:off x="7626096" y="3090672"/>
            <a:ext cx="384048" cy="274320"/>
          </a:xfrm>
          <a:prstGeom prst="rightArrow">
            <a:avLst/>
          </a:prstGeom>
          <a:solidFill>
            <a:srgbClr val="2FA35F"/>
          </a:solidFill>
          <a:ln w="12700">
            <a:solidFill>
              <a:srgbClr val="2FA35F"/>
            </a:solidFill>
            <a:prstDash val="solid"/>
          </a:ln>
        </p:spPr>
      </p:sp>
      <p:sp>
        <p:nvSpPr>
          <p:cNvPr id="24" name="ev3"/>
          <p:cNvSpPr txBox="1"/>
          <p:nvPr/>
        </p:nvSpPr>
        <p:spPr>
          <a:xfrm>
            <a:off x="8101584" y="2926080"/>
            <a:ext cx="1371600" cy="603504"/>
          </a:xfrm>
          <a:prstGeom prst="roundRect">
            <a:avLst>
              <a:gd name="adj" fmla="val 22727"/>
            </a:avLst>
          </a:prstGeom>
          <a:solidFill>
            <a:srgbClr val="DDF2E5"/>
          </a:solidFill>
          <a:ln w="19050">
            <a:solidFill>
              <a:srgbClr val="2FA3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3B30"/>
                </a:solidFill>
              </a:rPr>
              <a:t>减速器</a:t>
            </a:r>
            <a:endParaRPr lang="en-US" sz="2000" dirty="0"/>
          </a:p>
        </p:txBody>
      </p:sp>
      <p:sp>
        <p:nvSpPr>
          <p:cNvPr id="25" name="evArrow3"/>
          <p:cNvSpPr/>
          <p:nvPr/>
        </p:nvSpPr>
        <p:spPr>
          <a:xfrm>
            <a:off x="9564624" y="3090672"/>
            <a:ext cx="384048" cy="274320"/>
          </a:xfrm>
          <a:prstGeom prst="rightArrow">
            <a:avLst/>
          </a:prstGeom>
          <a:solidFill>
            <a:srgbClr val="2FA35F"/>
          </a:solidFill>
          <a:ln w="12700">
            <a:solidFill>
              <a:srgbClr val="2FA35F"/>
            </a:solidFill>
            <a:prstDash val="solid"/>
          </a:ln>
        </p:spPr>
      </p:sp>
      <p:sp>
        <p:nvSpPr>
          <p:cNvPr id="26" name="ev4"/>
          <p:cNvSpPr txBox="1"/>
          <p:nvPr/>
        </p:nvSpPr>
        <p:spPr>
          <a:xfrm>
            <a:off x="10040112" y="2926080"/>
            <a:ext cx="1371600" cy="603504"/>
          </a:xfrm>
          <a:prstGeom prst="roundRect">
            <a:avLst>
              <a:gd name="adj" fmla="val 22727"/>
            </a:avLst>
          </a:prstGeom>
          <a:solidFill>
            <a:srgbClr val="DDF2E5"/>
          </a:solidFill>
          <a:ln w="19050">
            <a:solidFill>
              <a:srgbClr val="2FA3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3B30"/>
                </a:solidFill>
              </a:rPr>
              <a:t>车轮</a:t>
            </a:r>
            <a:endParaRPr lang="en-US" sz="2000" dirty="0"/>
          </a:p>
        </p:txBody>
      </p:sp>
      <p:sp>
        <p:nvSpPr>
          <p:cNvPr id="27" name="blocksTitle"/>
          <p:cNvSpPr txBox="1"/>
          <p:nvPr/>
        </p:nvSpPr>
        <p:spPr>
          <a:xfrm>
            <a:off x="859536" y="3977640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0582E"/>
                </a:solidFill>
              </a:rPr>
              <a:t>10 份力气，有几份用来推车轮？</a:t>
            </a:r>
            <a:endParaRPr lang="en-US" sz="2000" dirty="0"/>
          </a:p>
        </p:txBody>
      </p:sp>
      <p:sp>
        <p:nvSpPr>
          <p:cNvPr id="28" name="gasBlocksLabel"/>
          <p:cNvSpPr txBox="1"/>
          <p:nvPr/>
        </p:nvSpPr>
        <p:spPr>
          <a:xfrm>
            <a:off x="859536" y="4553712"/>
            <a:ext cx="1188720" cy="512064"/>
          </a:xfrm>
          <a:prstGeom prst="roundRect">
            <a:avLst>
              <a:gd name="adj" fmla="val 35714"/>
            </a:avLst>
          </a:prstGeom>
          <a:solidFill>
            <a:srgbClr val="E8771A"/>
          </a:solidFill>
          <a:ln>
            <a:solidFill>
              <a:srgbClr val="E877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汽油车</a:t>
            </a:r>
            <a:endParaRPr lang="en-US" sz="1800" dirty="0"/>
          </a:p>
        </p:txBody>
      </p:sp>
      <p:sp>
        <p:nvSpPr>
          <p:cNvPr id="29" name="gasBlock0"/>
          <p:cNvSpPr/>
          <p:nvPr/>
        </p:nvSpPr>
        <p:spPr>
          <a:xfrm>
            <a:off x="2286000" y="4590288"/>
            <a:ext cx="384048" cy="438912"/>
          </a:xfrm>
          <a:prstGeom prst="roundRect">
            <a:avLst>
              <a:gd name="adj" fmla="val 19048"/>
            </a:avLst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0" name="gasBlock1"/>
          <p:cNvSpPr/>
          <p:nvPr/>
        </p:nvSpPr>
        <p:spPr>
          <a:xfrm>
            <a:off x="2743200" y="4590288"/>
            <a:ext cx="384048" cy="438912"/>
          </a:xfrm>
          <a:prstGeom prst="roundRect">
            <a:avLst>
              <a:gd name="adj" fmla="val 19048"/>
            </a:avLst>
          </a:prstGeom>
          <a:solidFill>
            <a:srgbClr val="E8771A"/>
          </a:solidFill>
          <a:ln w="12700">
            <a:solidFill>
              <a:srgbClr val="E8771A"/>
            </a:solidFill>
            <a:prstDash val="solid"/>
          </a:ln>
        </p:spPr>
      </p:sp>
      <p:sp>
        <p:nvSpPr>
          <p:cNvPr id="31" name="gasBlock2"/>
          <p:cNvSpPr/>
          <p:nvPr/>
        </p:nvSpPr>
        <p:spPr>
          <a:xfrm>
            <a:off x="3200400" y="4590288"/>
            <a:ext cx="384048" cy="438912"/>
          </a:xfrm>
          <a:prstGeom prst="roundRect">
            <a:avLst>
              <a:gd name="adj" fmla="val 19048"/>
            </a:avLst>
          </a:prstGeom>
          <a:solidFill>
            <a:srgbClr val="F6C9A0"/>
          </a:solidFill>
          <a:ln w="12700">
            <a:solidFill>
              <a:srgbClr val="F6C9A0"/>
            </a:solidFill>
            <a:prstDash val="solid"/>
          </a:ln>
        </p:spPr>
      </p:sp>
      <p:sp>
        <p:nvSpPr>
          <p:cNvPr id="32" name="gasBlock3"/>
          <p:cNvSpPr/>
          <p:nvPr/>
        </p:nvSpPr>
        <p:spPr>
          <a:xfrm>
            <a:off x="3657600" y="4590288"/>
            <a:ext cx="384048" cy="438912"/>
          </a:xfrm>
          <a:prstGeom prst="roundRect">
            <a:avLst>
              <a:gd name="adj" fmla="val 19048"/>
            </a:avLst>
          </a:prstGeom>
          <a:solidFill>
            <a:srgbClr val="EFEAE2"/>
          </a:solidFill>
          <a:ln w="12700">
            <a:solidFill>
              <a:srgbClr val="EFEAE2"/>
            </a:solidFill>
            <a:prstDash val="solid"/>
          </a:ln>
        </p:spPr>
      </p:sp>
      <p:sp>
        <p:nvSpPr>
          <p:cNvPr id="33" name="gasBlock4"/>
          <p:cNvSpPr/>
          <p:nvPr/>
        </p:nvSpPr>
        <p:spPr>
          <a:xfrm>
            <a:off x="4114800" y="4590288"/>
            <a:ext cx="384048" cy="438912"/>
          </a:xfrm>
          <a:prstGeom prst="roundRect">
            <a:avLst>
              <a:gd name="adj" fmla="val 19048"/>
            </a:avLst>
          </a:prstGeom>
          <a:solidFill>
            <a:srgbClr val="EFEAE2"/>
          </a:solidFill>
          <a:ln w="12700">
            <a:solidFill>
              <a:srgbClr val="EFEAE2"/>
            </a:solidFill>
            <a:prstDash val="solid"/>
          </a:ln>
        </p:spPr>
      </p:sp>
      <p:sp>
        <p:nvSpPr>
          <p:cNvPr id="34" name="gasBlock5"/>
          <p:cNvSpPr/>
          <p:nvPr/>
        </p:nvSpPr>
        <p:spPr>
          <a:xfrm>
            <a:off x="4572000" y="4590288"/>
            <a:ext cx="384048" cy="438912"/>
          </a:xfrm>
          <a:prstGeom prst="roundRect">
            <a:avLst>
              <a:gd name="adj" fmla="val 19048"/>
            </a:avLst>
          </a:prstGeom>
          <a:solidFill>
            <a:srgbClr val="EFEAE2"/>
          </a:solidFill>
          <a:ln w="12700">
            <a:solidFill>
              <a:srgbClr val="EFEAE2"/>
            </a:solidFill>
            <a:prstDash val="solid"/>
          </a:ln>
        </p:spPr>
      </p:sp>
      <p:sp>
        <p:nvSpPr>
          <p:cNvPr id="35" name="gasBlock6"/>
          <p:cNvSpPr/>
          <p:nvPr/>
        </p:nvSpPr>
        <p:spPr>
          <a:xfrm>
            <a:off x="5029200" y="4590288"/>
            <a:ext cx="384048" cy="438912"/>
          </a:xfrm>
          <a:prstGeom prst="roundRect">
            <a:avLst>
              <a:gd name="adj" fmla="val 19048"/>
            </a:avLst>
          </a:prstGeom>
          <a:solidFill>
            <a:srgbClr val="EFEAE2"/>
          </a:solidFill>
          <a:ln w="12700">
            <a:solidFill>
              <a:srgbClr val="EFEAE2"/>
            </a:solidFill>
            <a:prstDash val="solid"/>
          </a:ln>
        </p:spPr>
      </p:sp>
      <p:sp>
        <p:nvSpPr>
          <p:cNvPr id="36" name="gasBlock7"/>
          <p:cNvSpPr/>
          <p:nvPr/>
        </p:nvSpPr>
        <p:spPr>
          <a:xfrm>
            <a:off x="5486400" y="4590288"/>
            <a:ext cx="384048" cy="438912"/>
          </a:xfrm>
          <a:prstGeom prst="roundRect">
            <a:avLst>
              <a:gd name="adj" fmla="val 19048"/>
            </a:avLst>
          </a:prstGeom>
          <a:solidFill>
            <a:srgbClr val="EFEAE2"/>
          </a:solidFill>
          <a:ln w="12700">
            <a:solidFill>
              <a:srgbClr val="EFEAE2"/>
            </a:solidFill>
            <a:prstDash val="solid"/>
          </a:ln>
        </p:spPr>
      </p:sp>
      <p:sp>
        <p:nvSpPr>
          <p:cNvPr id="37" name="gasBlock8"/>
          <p:cNvSpPr/>
          <p:nvPr/>
        </p:nvSpPr>
        <p:spPr>
          <a:xfrm>
            <a:off x="5943600" y="4590288"/>
            <a:ext cx="384048" cy="438912"/>
          </a:xfrm>
          <a:prstGeom prst="roundRect">
            <a:avLst>
              <a:gd name="adj" fmla="val 19048"/>
            </a:avLst>
          </a:prstGeom>
          <a:solidFill>
            <a:srgbClr val="EFEAE2"/>
          </a:solidFill>
          <a:ln w="12700">
            <a:solidFill>
              <a:srgbClr val="EFEAE2"/>
            </a:solidFill>
            <a:prstDash val="solid"/>
          </a:ln>
        </p:spPr>
      </p:sp>
      <p:sp>
        <p:nvSpPr>
          <p:cNvPr id="38" name="gasBlock9"/>
          <p:cNvSpPr/>
          <p:nvPr/>
        </p:nvSpPr>
        <p:spPr>
          <a:xfrm>
            <a:off x="6400800" y="4590288"/>
            <a:ext cx="384048" cy="438912"/>
          </a:xfrm>
          <a:prstGeom prst="roundRect">
            <a:avLst>
              <a:gd name="adj" fmla="val 19048"/>
            </a:avLst>
          </a:prstGeom>
          <a:solidFill>
            <a:srgbClr val="EFEAE2"/>
          </a:solidFill>
          <a:ln w="12700">
            <a:solidFill>
              <a:srgbClr val="EFEAE2"/>
            </a:solidFill>
            <a:prstDash val="solid"/>
          </a:ln>
        </p:spPr>
      </p:sp>
      <p:sp>
        <p:nvSpPr>
          <p:cNvPr id="39" name="gasBlocksValue"/>
          <p:cNvSpPr txBox="1"/>
          <p:nvPr/>
        </p:nvSpPr>
        <p:spPr>
          <a:xfrm>
            <a:off x="6903720" y="4553712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B30"/>
                </a:solidFill>
              </a:rPr>
              <a:t>2～3 份</a:t>
            </a:r>
            <a:endParaRPr lang="en-US" sz="2000" dirty="0"/>
          </a:p>
        </p:txBody>
      </p:sp>
      <p:sp>
        <p:nvSpPr>
          <p:cNvPr id="40" name="evBlocksLabel"/>
          <p:cNvSpPr txBox="1"/>
          <p:nvPr/>
        </p:nvSpPr>
        <p:spPr>
          <a:xfrm>
            <a:off x="859536" y="5230368"/>
            <a:ext cx="1188720" cy="512064"/>
          </a:xfrm>
          <a:prstGeom prst="roundRect">
            <a:avLst>
              <a:gd name="adj" fmla="val 35714"/>
            </a:avLst>
          </a:prstGeom>
          <a:solidFill>
            <a:srgbClr val="2FA35F"/>
          </a:solidFill>
          <a:ln>
            <a:solidFill>
              <a:srgbClr val="2FA3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电动车</a:t>
            </a:r>
            <a:endParaRPr lang="en-US" sz="1800" dirty="0"/>
          </a:p>
        </p:txBody>
      </p:sp>
      <p:sp>
        <p:nvSpPr>
          <p:cNvPr id="41" name="evBlock0"/>
          <p:cNvSpPr/>
          <p:nvPr/>
        </p:nvSpPr>
        <p:spPr>
          <a:xfrm>
            <a:off x="2286000" y="5266944"/>
            <a:ext cx="384048" cy="438912"/>
          </a:xfrm>
          <a:prstGeom prst="roundRect">
            <a:avLst>
              <a:gd name="adj" fmla="val 19048"/>
            </a:avLst>
          </a:prstGeom>
          <a:solidFill>
            <a:srgbClr val="2FA35F"/>
          </a:solidFill>
          <a:ln w="12700">
            <a:solidFill>
              <a:srgbClr val="2FA35F"/>
            </a:solidFill>
            <a:prstDash val="solid"/>
          </a:ln>
        </p:spPr>
      </p:sp>
      <p:sp>
        <p:nvSpPr>
          <p:cNvPr id="42" name="evBlock1"/>
          <p:cNvSpPr/>
          <p:nvPr/>
        </p:nvSpPr>
        <p:spPr>
          <a:xfrm>
            <a:off x="2743200" y="5266944"/>
            <a:ext cx="384048" cy="438912"/>
          </a:xfrm>
          <a:prstGeom prst="roundRect">
            <a:avLst>
              <a:gd name="adj" fmla="val 19048"/>
            </a:avLst>
          </a:prstGeom>
          <a:solidFill>
            <a:srgbClr val="2FA35F"/>
          </a:solidFill>
          <a:ln w="12700">
            <a:solidFill>
              <a:srgbClr val="2FA35F"/>
            </a:solidFill>
            <a:prstDash val="solid"/>
          </a:ln>
        </p:spPr>
      </p:sp>
      <p:sp>
        <p:nvSpPr>
          <p:cNvPr id="43" name="evBlock2"/>
          <p:cNvSpPr/>
          <p:nvPr/>
        </p:nvSpPr>
        <p:spPr>
          <a:xfrm>
            <a:off x="3200400" y="5266944"/>
            <a:ext cx="384048" cy="438912"/>
          </a:xfrm>
          <a:prstGeom prst="roundRect">
            <a:avLst>
              <a:gd name="adj" fmla="val 19048"/>
            </a:avLst>
          </a:prstGeom>
          <a:solidFill>
            <a:srgbClr val="2FA35F"/>
          </a:solidFill>
          <a:ln w="12700">
            <a:solidFill>
              <a:srgbClr val="2FA35F"/>
            </a:solidFill>
            <a:prstDash val="solid"/>
          </a:ln>
        </p:spPr>
      </p:sp>
      <p:sp>
        <p:nvSpPr>
          <p:cNvPr id="44" name="evBlock3"/>
          <p:cNvSpPr/>
          <p:nvPr/>
        </p:nvSpPr>
        <p:spPr>
          <a:xfrm>
            <a:off x="3657600" y="5266944"/>
            <a:ext cx="384048" cy="438912"/>
          </a:xfrm>
          <a:prstGeom prst="roundRect">
            <a:avLst>
              <a:gd name="adj" fmla="val 19048"/>
            </a:avLst>
          </a:prstGeom>
          <a:solidFill>
            <a:srgbClr val="2FA35F"/>
          </a:solidFill>
          <a:ln w="12700">
            <a:solidFill>
              <a:srgbClr val="2FA35F"/>
            </a:solidFill>
            <a:prstDash val="solid"/>
          </a:ln>
        </p:spPr>
      </p:sp>
      <p:sp>
        <p:nvSpPr>
          <p:cNvPr id="45" name="evBlock4"/>
          <p:cNvSpPr/>
          <p:nvPr/>
        </p:nvSpPr>
        <p:spPr>
          <a:xfrm>
            <a:off x="4114800" y="5266944"/>
            <a:ext cx="384048" cy="438912"/>
          </a:xfrm>
          <a:prstGeom prst="roundRect">
            <a:avLst>
              <a:gd name="adj" fmla="val 19048"/>
            </a:avLst>
          </a:prstGeom>
          <a:solidFill>
            <a:srgbClr val="2FA35F"/>
          </a:solidFill>
          <a:ln w="12700">
            <a:solidFill>
              <a:srgbClr val="2FA35F"/>
            </a:solidFill>
            <a:prstDash val="solid"/>
          </a:ln>
        </p:spPr>
      </p:sp>
      <p:sp>
        <p:nvSpPr>
          <p:cNvPr id="46" name="evBlock5"/>
          <p:cNvSpPr/>
          <p:nvPr/>
        </p:nvSpPr>
        <p:spPr>
          <a:xfrm>
            <a:off x="4572000" y="5266944"/>
            <a:ext cx="384048" cy="438912"/>
          </a:xfrm>
          <a:prstGeom prst="roundRect">
            <a:avLst>
              <a:gd name="adj" fmla="val 19048"/>
            </a:avLst>
          </a:prstGeom>
          <a:solidFill>
            <a:srgbClr val="2FA35F"/>
          </a:solidFill>
          <a:ln w="12700">
            <a:solidFill>
              <a:srgbClr val="2FA35F"/>
            </a:solidFill>
            <a:prstDash val="solid"/>
          </a:ln>
        </p:spPr>
      </p:sp>
      <p:sp>
        <p:nvSpPr>
          <p:cNvPr id="47" name="evBlock6"/>
          <p:cNvSpPr/>
          <p:nvPr/>
        </p:nvSpPr>
        <p:spPr>
          <a:xfrm>
            <a:off x="5029200" y="5266944"/>
            <a:ext cx="384048" cy="438912"/>
          </a:xfrm>
          <a:prstGeom prst="roundRect">
            <a:avLst>
              <a:gd name="adj" fmla="val 19048"/>
            </a:avLst>
          </a:prstGeom>
          <a:solidFill>
            <a:srgbClr val="2FA35F"/>
          </a:solidFill>
          <a:ln w="12700">
            <a:solidFill>
              <a:srgbClr val="2FA35F"/>
            </a:solidFill>
            <a:prstDash val="solid"/>
          </a:ln>
        </p:spPr>
      </p:sp>
      <p:sp>
        <p:nvSpPr>
          <p:cNvPr id="48" name="evBlock7"/>
          <p:cNvSpPr/>
          <p:nvPr/>
        </p:nvSpPr>
        <p:spPr>
          <a:xfrm>
            <a:off x="5486400" y="5266944"/>
            <a:ext cx="384048" cy="438912"/>
          </a:xfrm>
          <a:prstGeom prst="roundRect">
            <a:avLst>
              <a:gd name="adj" fmla="val 19048"/>
            </a:avLst>
          </a:prstGeom>
          <a:solidFill>
            <a:srgbClr val="2FA35F"/>
          </a:solidFill>
          <a:ln w="12700">
            <a:solidFill>
              <a:srgbClr val="2FA35F"/>
            </a:solidFill>
            <a:prstDash val="solid"/>
          </a:ln>
        </p:spPr>
      </p:sp>
      <p:sp>
        <p:nvSpPr>
          <p:cNvPr id="49" name="evBlock8"/>
          <p:cNvSpPr/>
          <p:nvPr/>
        </p:nvSpPr>
        <p:spPr>
          <a:xfrm>
            <a:off x="5943600" y="5266944"/>
            <a:ext cx="384048" cy="438912"/>
          </a:xfrm>
          <a:prstGeom prst="roundRect">
            <a:avLst>
              <a:gd name="adj" fmla="val 19048"/>
            </a:avLst>
          </a:prstGeom>
          <a:solidFill>
            <a:srgbClr val="EFEAE2"/>
          </a:solidFill>
          <a:ln w="12700">
            <a:solidFill>
              <a:srgbClr val="EFEAE2"/>
            </a:solidFill>
            <a:prstDash val="solid"/>
          </a:ln>
        </p:spPr>
      </p:sp>
      <p:sp>
        <p:nvSpPr>
          <p:cNvPr id="50" name="evBlock9"/>
          <p:cNvSpPr/>
          <p:nvPr/>
        </p:nvSpPr>
        <p:spPr>
          <a:xfrm>
            <a:off x="6400800" y="5266944"/>
            <a:ext cx="384048" cy="438912"/>
          </a:xfrm>
          <a:prstGeom prst="roundRect">
            <a:avLst>
              <a:gd name="adj" fmla="val 19048"/>
            </a:avLst>
          </a:prstGeom>
          <a:solidFill>
            <a:srgbClr val="EFEAE2"/>
          </a:solidFill>
          <a:ln w="12700">
            <a:solidFill>
              <a:srgbClr val="EFEAE2"/>
            </a:solidFill>
            <a:prstDash val="solid"/>
          </a:ln>
        </p:spPr>
      </p:sp>
      <p:sp>
        <p:nvSpPr>
          <p:cNvPr id="51" name="evBlocksValue"/>
          <p:cNvSpPr txBox="1"/>
          <p:nvPr/>
        </p:nvSpPr>
        <p:spPr>
          <a:xfrm>
            <a:off x="6903720" y="5230368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B30"/>
                </a:solidFill>
              </a:rPr>
              <a:t>8 份</a:t>
            </a:r>
            <a:endParaRPr lang="en-US" sz="2000" dirty="0"/>
          </a:p>
        </p:txBody>
      </p:sp>
      <p:sp>
        <p:nvSpPr>
          <p:cNvPr id="52" name="summary"/>
          <p:cNvSpPr txBox="1"/>
          <p:nvPr/>
        </p:nvSpPr>
        <p:spPr>
          <a:xfrm>
            <a:off x="8138160" y="4069080"/>
            <a:ext cx="3191256" cy="1783080"/>
          </a:xfrm>
          <a:prstGeom prst="roundRect">
            <a:avLst>
              <a:gd name="adj" fmla="val 11282"/>
            </a:avLst>
          </a:prstGeom>
          <a:solidFill>
            <a:srgbClr val="F1E8DF"/>
          </a:solidFill>
          <a:ln>
            <a:solidFill>
              <a:srgbClr val="F1E8DF"/>
            </a:solidFill>
          </a:ln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A35F"/>
                </a:solidFill>
              </a:rPr>
              <a:t>电动车：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路更短，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力气浪费更少！</a:t>
            </a:r>
            <a:endParaRPr lang="en-US" sz="2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59536" y="5486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中国汽车：两个“世界第一”</a:t>
            </a:r>
            <a:endParaRPr lang="en-US" sz="3200" dirty="0"/>
          </a:p>
        </p:txBody>
      </p:sp>
      <p:sp>
        <p:nvSpPr>
          <p:cNvPr id="3" name="panel0"/>
          <p:cNvSpPr/>
          <p:nvPr/>
        </p:nvSpPr>
        <p:spPr>
          <a:xfrm>
            <a:off x="859536" y="1417320"/>
            <a:ext cx="3017520" cy="44805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year0"/>
          <p:cNvSpPr txBox="1"/>
          <p:nvPr/>
        </p:nvSpPr>
        <p:spPr>
          <a:xfrm>
            <a:off x="1060704" y="158191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0582E"/>
                </a:solidFill>
              </a:rPr>
              <a:t>2009</a:t>
            </a:r>
            <a:endParaRPr lang="en-US" sz="3200" dirty="0"/>
          </a:p>
        </p:txBody>
      </p:sp>
      <p:sp>
        <p:nvSpPr>
          <p:cNvPr id="5" name="head0"/>
          <p:cNvSpPr txBox="1"/>
          <p:nvPr/>
        </p:nvSpPr>
        <p:spPr>
          <a:xfrm>
            <a:off x="1060704" y="2130552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0582E"/>
                </a:solidFill>
              </a:rPr>
              <a:t>造车最多</a:t>
            </a:r>
            <a:endParaRPr lang="en-US" sz="2000" dirty="0"/>
          </a:p>
        </p:txBody>
      </p:sp>
      <p:graphicFrame>
        <p:nvGraphicFramePr>
          <p:cNvPr id="6" name="productionChart" descr=""/>
          <p:cNvGraphicFramePr/>
          <p:nvPr/>
        </p:nvGraphicFramePr>
        <p:xfrm>
          <a:off x="950976" y="2651760"/>
          <a:ext cx="28346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aption0"/>
          <p:cNvSpPr txBox="1"/>
          <p:nvPr/>
        </p:nvSpPr>
        <p:spPr>
          <a:xfrm>
            <a:off x="1060704" y="5120640"/>
            <a:ext cx="2615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3B30"/>
                </a:solidFill>
              </a:rPr>
              <a:t>从这一年起，中国年年造车世界第一。</a:t>
            </a:r>
            <a:endParaRPr lang="en-US" sz="1700" dirty="0"/>
          </a:p>
        </p:txBody>
      </p:sp>
      <p:sp>
        <p:nvSpPr>
          <p:cNvPr id="8" name="panel1"/>
          <p:cNvSpPr/>
          <p:nvPr/>
        </p:nvSpPr>
        <p:spPr>
          <a:xfrm>
            <a:off x="4105656" y="1417320"/>
            <a:ext cx="3017520" cy="44805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year1"/>
          <p:cNvSpPr txBox="1"/>
          <p:nvPr/>
        </p:nvSpPr>
        <p:spPr>
          <a:xfrm>
            <a:off x="4306824" y="158191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0582E"/>
                </a:solidFill>
              </a:rPr>
              <a:t>2023</a:t>
            </a:r>
            <a:endParaRPr lang="en-US" sz="3200" dirty="0"/>
          </a:p>
        </p:txBody>
      </p:sp>
      <p:sp>
        <p:nvSpPr>
          <p:cNvPr id="10" name="head1"/>
          <p:cNvSpPr txBox="1"/>
          <p:nvPr/>
        </p:nvSpPr>
        <p:spPr>
          <a:xfrm>
            <a:off x="4306824" y="2130552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0582E"/>
                </a:solidFill>
              </a:rPr>
              <a:t>卖到国外最多</a:t>
            </a:r>
            <a:endParaRPr lang="en-US" sz="2000" dirty="0"/>
          </a:p>
        </p:txBody>
      </p:sp>
      <p:graphicFrame>
        <p:nvGraphicFramePr>
          <p:cNvPr id="11" name="exportChart" descr=""/>
          <p:cNvGraphicFramePr/>
          <p:nvPr/>
        </p:nvGraphicFramePr>
        <p:xfrm>
          <a:off x="4197096" y="2651760"/>
          <a:ext cx="28346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caption1"/>
          <p:cNvSpPr txBox="1"/>
          <p:nvPr/>
        </p:nvSpPr>
        <p:spPr>
          <a:xfrm>
            <a:off x="4306824" y="5120640"/>
            <a:ext cx="2615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3B30"/>
                </a:solidFill>
              </a:rPr>
              <a:t>卖到国外的车，比日本还多。</a:t>
            </a:r>
            <a:endParaRPr lang="en-US" sz="1700" dirty="0"/>
          </a:p>
        </p:txBody>
      </p:sp>
      <p:sp>
        <p:nvSpPr>
          <p:cNvPr id="13" name="panel2"/>
          <p:cNvSpPr/>
          <p:nvPr/>
        </p:nvSpPr>
        <p:spPr>
          <a:xfrm>
            <a:off x="7351776" y="1417320"/>
            <a:ext cx="3977640" cy="448056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year2"/>
          <p:cNvSpPr txBox="1"/>
          <p:nvPr/>
        </p:nvSpPr>
        <p:spPr>
          <a:xfrm>
            <a:off x="7552944" y="158191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A35F"/>
                </a:solidFill>
              </a:rPr>
              <a:t>2025</a:t>
            </a:r>
            <a:endParaRPr lang="en-US" sz="3200" dirty="0"/>
          </a:p>
        </p:txBody>
      </p:sp>
      <p:sp>
        <p:nvSpPr>
          <p:cNvPr id="15" name="head2"/>
          <p:cNvSpPr txBox="1"/>
          <p:nvPr/>
        </p:nvSpPr>
        <p:spPr>
          <a:xfrm>
            <a:off x="7552944" y="2130552"/>
            <a:ext cx="3575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A35F"/>
                </a:solidFill>
              </a:rPr>
              <a:t>新能源车快到一半</a:t>
            </a:r>
            <a:endParaRPr lang="en-US" sz="2000" dirty="0"/>
          </a:p>
        </p:txBody>
      </p:sp>
      <p:pic>
        <p:nvPicPr>
          <p:cNvPr id="16" name="car0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6" y="2834640"/>
            <a:ext cx="676656" cy="383438"/>
          </a:xfrm>
          <a:prstGeom prst="rect">
            <a:avLst/>
          </a:prstGeom>
        </p:spPr>
      </p:pic>
      <p:pic>
        <p:nvPicPr>
          <p:cNvPr id="17" name="car1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4172" y="2834640"/>
            <a:ext cx="676656" cy="383438"/>
          </a:xfrm>
          <a:prstGeom prst="rect">
            <a:avLst/>
          </a:prstGeom>
        </p:spPr>
      </p:pic>
      <p:pic>
        <p:nvPicPr>
          <p:cNvPr id="18" name="car2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2268" y="2834640"/>
            <a:ext cx="676656" cy="383438"/>
          </a:xfrm>
          <a:prstGeom prst="rect">
            <a:avLst/>
          </a:prstGeom>
        </p:spPr>
      </p:pic>
      <p:pic>
        <p:nvPicPr>
          <p:cNvPr id="19" name="car3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0364" y="2834640"/>
            <a:ext cx="676656" cy="383438"/>
          </a:xfrm>
          <a:prstGeom prst="rect">
            <a:avLst/>
          </a:prstGeom>
        </p:spPr>
      </p:pic>
      <p:pic>
        <p:nvPicPr>
          <p:cNvPr id="20" name="car4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8460" y="2834640"/>
            <a:ext cx="676656" cy="383438"/>
          </a:xfrm>
          <a:prstGeom prst="rect">
            <a:avLst/>
          </a:prstGeom>
        </p:spPr>
      </p:pic>
      <p:pic>
        <p:nvPicPr>
          <p:cNvPr id="21" name="car5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66076" y="3492398"/>
            <a:ext cx="676656" cy="383438"/>
          </a:xfrm>
          <a:prstGeom prst="rect">
            <a:avLst/>
          </a:prstGeom>
        </p:spPr>
      </p:pic>
      <p:pic>
        <p:nvPicPr>
          <p:cNvPr id="22" name="car6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34172" y="3492398"/>
            <a:ext cx="676656" cy="383438"/>
          </a:xfrm>
          <a:prstGeom prst="rect">
            <a:avLst/>
          </a:prstGeom>
        </p:spPr>
      </p:pic>
      <p:pic>
        <p:nvPicPr>
          <p:cNvPr id="23" name="car7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02268" y="3492398"/>
            <a:ext cx="676656" cy="383438"/>
          </a:xfrm>
          <a:prstGeom prst="rect">
            <a:avLst/>
          </a:prstGeom>
        </p:spPr>
      </p:pic>
      <p:pic>
        <p:nvPicPr>
          <p:cNvPr id="24" name="car8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70364" y="3492398"/>
            <a:ext cx="676656" cy="383438"/>
          </a:xfrm>
          <a:prstGeom prst="rect">
            <a:avLst/>
          </a:prstGeom>
        </p:spPr>
      </p:pic>
      <p:pic>
        <p:nvPicPr>
          <p:cNvPr id="25" name="car9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38460" y="3492398"/>
            <a:ext cx="676656" cy="383438"/>
          </a:xfrm>
          <a:prstGeom prst="rect">
            <a:avLst/>
          </a:prstGeom>
        </p:spPr>
      </p:pic>
      <p:pic>
        <p:nvPicPr>
          <p:cNvPr id="26" name="legendEv" descr="/tmp/claude-0/-home-user-math-research/16f99fce-b859-50e5-9b54-596ba7204777/scratchpad/ppt/img/icon-ev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66076" y="4250741"/>
            <a:ext cx="384048" cy="219456"/>
          </a:xfrm>
          <a:prstGeom prst="rect">
            <a:avLst/>
          </a:prstGeom>
        </p:spPr>
      </p:pic>
      <p:sp>
        <p:nvSpPr>
          <p:cNvPr id="27" name="legendEvText"/>
          <p:cNvSpPr txBox="1"/>
          <p:nvPr/>
        </p:nvSpPr>
        <p:spPr>
          <a:xfrm>
            <a:off x="7923276" y="4195877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A5C"/>
                </a:solidFill>
              </a:rPr>
              <a:t>新能源车</a:t>
            </a:r>
            <a:endParaRPr lang="en-US" sz="1400" dirty="0"/>
          </a:p>
        </p:txBody>
      </p:sp>
      <p:pic>
        <p:nvPicPr>
          <p:cNvPr id="28" name="legendGas" descr="/tmp/claude-0/-home-user-math-research/16f99fce-b859-50e5-9b54-596ba7204777/scratchpad/ppt/img/icon-grey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57716" y="4250741"/>
            <a:ext cx="384048" cy="219456"/>
          </a:xfrm>
          <a:prstGeom prst="rect">
            <a:avLst/>
          </a:prstGeom>
        </p:spPr>
      </p:pic>
      <p:sp>
        <p:nvSpPr>
          <p:cNvPr id="29" name="legendGasText"/>
          <p:cNvSpPr txBox="1"/>
          <p:nvPr/>
        </p:nvSpPr>
        <p:spPr>
          <a:xfrm>
            <a:off x="9614916" y="4195877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6A5C"/>
                </a:solidFill>
              </a:rPr>
              <a:t>烧油的车</a:t>
            </a:r>
            <a:endParaRPr lang="en-US" sz="1400" dirty="0"/>
          </a:p>
        </p:txBody>
      </p:sp>
      <p:sp>
        <p:nvSpPr>
          <p:cNvPr id="30" name="caption2"/>
          <p:cNvSpPr txBox="1"/>
          <p:nvPr/>
        </p:nvSpPr>
        <p:spPr>
          <a:xfrm>
            <a:off x="7552944" y="5120640"/>
            <a:ext cx="3575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3B30"/>
                </a:solidFill>
              </a:rPr>
              <a:t>10 辆新车，约 5 辆是新能源车。</a:t>
            </a:r>
            <a:endParaRPr lang="en-US" sz="1700" dirty="0"/>
          </a:p>
        </p:txBody>
      </p:sp>
      <p:sp>
        <p:nvSpPr>
          <p:cNvPr id="31" name="sources"/>
          <p:cNvSpPr txBox="1"/>
          <p:nvPr/>
        </p:nvSpPr>
        <p:spPr>
          <a:xfrm>
            <a:off x="859536" y="603504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5C"/>
                </a:solidFill>
              </a:rPr>
              <a:t>数据：中国汽车工业协会、OICA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ids Car Science">
  <a:themeElements>
    <a:clrScheme name="Kids Car Science">
      <a:dk1>
        <a:srgbClr val="4A3B30"/>
      </a:dk1>
      <a:lt1>
        <a:srgbClr val="FFFFFF"/>
      </a:lt1>
      <a:dk2>
        <a:srgbClr val="A0582E"/>
      </a:dk2>
      <a:lt2>
        <a:srgbClr val="FAF4E0"/>
      </a:lt2>
      <a:accent1>
        <a:srgbClr val="E8771A"/>
      </a:accent1>
      <a:accent2>
        <a:srgbClr val="2FA35F"/>
      </a:accent2>
      <a:accent3>
        <a:srgbClr val="F1E8DF"/>
      </a:accent3>
      <a:accent4>
        <a:srgbClr val="3D7BD9"/>
      </a:accent4>
      <a:accent5>
        <a:srgbClr val="C9C4BA"/>
      </a:accent5>
      <a:accent6>
        <a:srgbClr val="FDFBF4"/>
      </a:accent6>
      <a:hlink>
        <a:srgbClr val="3D7BD9"/>
      </a:hlink>
      <a:folHlink>
        <a:srgbClr val="6E5A9E"/>
      </a:folHlink>
    </a:clrScheme>
    <a:fontScheme name="Kids Car Scien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汽油车 vs 电动车：肚子里有什么？</dc:title>
  <dc:subject>PptxGenJS Presentation</dc:subject>
  <dc:creator>PptxGenJS</dc:creator>
  <cp:lastModifiedBy>PptxGenJS</cp:lastModifiedBy>
  <cp:revision>1</cp:revision>
  <dcterms:created xsi:type="dcterms:W3CDTF">2026-10-17T12:26:24Z</dcterms:created>
  <dcterms:modified xsi:type="dcterms:W3CDTF">2026-10-17T12:26:24Z</dcterms:modified>
</cp:coreProperties>
</file>