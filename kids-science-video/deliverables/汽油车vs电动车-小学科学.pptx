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01fd6617-a119-06a0-4c7d-c271f986e80a}">
          <p14:sldIdLst>
            <p14:sldId id="256"/>
          </p14:sldIdLst>
        </p14:section>
        <p14:section name="汽油车" id="{e26299b3-4d0f-8546-2f2f-a1edf592935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电动车" id="{d06f78ce-6c2c-86e0-24e5-5a8cf300e626}">
          <p14:sldIdLst>
            <p14:sldId id="265"/>
            <p14:sldId id="266"/>
            <p14:sldId id="267"/>
            <p14:sldId id="268"/>
            <p14:sldId id="269"/>
          </p14:sldIdLst>
        </p14:section>
        <p14:section name="比一比" id="{acbd8654-cf58-0f22-e095-b9a502d22fa4}">
          <p14:sldIdLst>
            <p14:sldId id="270"/>
            <p14:sldId id="271"/>
          </p14:sldIdLst>
        </p14:section>
        <p14:section name="中国汽车" id="{a280c16c-8f89-847e-99ba-db81a42ae46d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今天我们当一回“汽车小侦探”：把汽油车和电动车的肚子打开看看，比一比谁的结构更简单。先请同学们猜一猜：哪一辆车里面的零件更多？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播放动画（70 秒，自带旁白和字幕）。看完问：汽油从油箱出发，经过哪些地方，最后怎样让车轮转起来？动画最后，全车零件散开成“零件云”——会动的零件大约 2000 多个。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油箱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发动机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变速箱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传动轴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散热器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机油系统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排气管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播放动画（72 秒）。看完问：电动车的“三大件”是什么？（电池、电机、电控）电流总是从电池流到控制器，再流到电机。和汽油车比，车尾没有排气管，也不用换机油。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电池包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电机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电控大脑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回收刹车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同时播放两段“拆车”动画（11 秒，无声，老师讲解）：左边汽油车散开成一片零件云，右边电动车只散开几个大块。请同学们数一数右边有几块：电池包、高压线束、控制器、电机、减速器、半轴、车轮。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小结：电动车把“发动机 + 多挡变速箱 + 机油 + 排气”这一大套换成了“电池 + 电机 + 电控”三大件。零件少，坏的地方就少；刹车时电机还能反过来发电，把能量存回电池。也可以提醒同学们：电动车需要充电，旧电池要好好回收利用。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2009 年中国汽车产量 1379 万辆，第一次成为世界第一，以后年年第一。2023 年中国出口汽车 491 万辆，超过日本，成为出口第一（2024、2025 年继续第一，2025 年超过 700 万辆）。2024 年 7 月，新能源乘用车的零售量第一次超过一半（51.1%）；2025 年，国内全年新车销量里新能源车超过一半——新能源车第一次在一整年里卖得比燃油车多。数据来源：中国汽车工业协会、乘用车市场信息联席会。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RD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ARD_EV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D_EV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AF4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-1.mp4"/><Relationship Id="rId2" Type="http://schemas.microsoft.com/office/2007/relationships/media" Target="../media/media-2-1.mp4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汽油车 vs 电动车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859536" y="1325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肚子里有什么？一起拆开比一比！</a:t>
            </a:r>
            <a:endParaRPr lang="en-US" sz="2400" dirty="0"/>
          </a:p>
        </p:txBody>
      </p:sp>
      <p:pic>
        <p:nvPicPr>
          <p:cNvPr id="4" name="gasC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48840"/>
            <a:ext cx="4754880" cy="2331720"/>
          </a:xfrm>
          <a:prstGeom prst="ellipse">
            <a:avLst/>
          </a:prstGeom>
        </p:spPr>
      </p:pic>
      <p:pic>
        <p:nvPicPr>
          <p:cNvPr id="5" name="evC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2148840"/>
            <a:ext cx="4754880" cy="2331720"/>
          </a:xfrm>
          <a:prstGeom prst="ellipse">
            <a:avLst/>
          </a:prstGeom>
        </p:spPr>
      </p:pic>
      <p:sp>
        <p:nvSpPr>
          <p:cNvPr id="6" name="vs"/>
          <p:cNvSpPr txBox="1"/>
          <p:nvPr/>
        </p:nvSpPr>
        <p:spPr>
          <a:xfrm>
            <a:off x="5641848" y="2862072"/>
            <a:ext cx="914400" cy="914400"/>
          </a:xfrm>
          <a:prstGeom prst="ellipse">
            <a:avLst/>
          </a:prstGeom>
          <a:solidFill>
            <a:srgbClr val="A0582E"/>
          </a:solidFill>
          <a:ln w="381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VS</a:t>
            </a:r>
            <a:endParaRPr lang="en-US" sz="2600" dirty="0"/>
          </a:p>
        </p:txBody>
      </p:sp>
      <p:sp>
        <p:nvSpPr>
          <p:cNvPr id="7" name="gasChip"/>
          <p:cNvSpPr txBox="1"/>
          <p:nvPr/>
        </p:nvSpPr>
        <p:spPr>
          <a:xfrm>
            <a:off x="2093976" y="4663440"/>
            <a:ext cx="2286000" cy="548640"/>
          </a:xfrm>
          <a:prstGeom prst="roundRect">
            <a:avLst>
              <a:gd name="adj" fmla="val 33333"/>
            </a:avLst>
          </a:prstGeom>
          <a:solidFill>
            <a:srgbClr val="E8771A"/>
          </a:solidFill>
          <a:ln>
            <a:solidFill>
              <a:srgbClr val="E87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汽油车</a:t>
            </a:r>
            <a:endParaRPr lang="en-US" sz="2200" dirty="0"/>
          </a:p>
        </p:txBody>
      </p:sp>
      <p:sp>
        <p:nvSpPr>
          <p:cNvPr id="8" name="evChip"/>
          <p:cNvSpPr txBox="1"/>
          <p:nvPr/>
        </p:nvSpPr>
        <p:spPr>
          <a:xfrm>
            <a:off x="7808976" y="4663440"/>
            <a:ext cx="2286000" cy="548640"/>
          </a:xfrm>
          <a:prstGeom prst="roundRect">
            <a:avLst>
              <a:gd name="adj" fmla="val 33333"/>
            </a:avLst>
          </a:prstGeom>
          <a:solidFill>
            <a:srgbClr val="2FA35F"/>
          </a:solidFill>
          <a:ln>
            <a:solidFill>
              <a:srgbClr val="2FA35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电动车</a:t>
            </a:r>
            <a:endParaRPr lang="en-US" sz="2200" dirty="0"/>
          </a:p>
        </p:txBody>
      </p:sp>
      <p:sp>
        <p:nvSpPr>
          <p:cNvPr id="9" name="tag"/>
          <p:cNvSpPr txBox="1"/>
          <p:nvPr/>
        </p:nvSpPr>
        <p:spPr>
          <a:xfrm>
            <a:off x="859536" y="5669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582E"/>
                </a:solidFill>
              </a:rPr>
              <a:t>小学科学 · 汽车大揭秘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第一站：汽油车的肚子里有什么？</a:t>
            </a:r>
            <a:endParaRPr lang="en-US" sz="3200" dirty="0"/>
          </a:p>
        </p:txBody>
      </p:sp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59536" y="1508760"/>
            <a:ext cx="7680960" cy="4320540"/>
          </a:xfrm>
          <a:prstGeom prst="rect">
            <a:avLst/>
          </a:prstGeom>
        </p:spPr>
      </p:pic>
      <p:sp>
        <p:nvSpPr>
          <p:cNvPr id="4" name="tag"/>
          <p:cNvSpPr txBox="1"/>
          <p:nvPr/>
        </p:nvSpPr>
        <p:spPr>
          <a:xfrm>
            <a:off x="8823960" y="1508760"/>
            <a:ext cx="2468880" cy="502920"/>
          </a:xfrm>
          <a:prstGeom prst="roundRect">
            <a:avLst>
              <a:gd name="adj" fmla="val 36364"/>
            </a:avLst>
          </a:prstGeom>
          <a:solidFill>
            <a:srgbClr val="E8771A"/>
          </a:solidFill>
          <a:ln>
            <a:solidFill>
              <a:srgbClr val="E87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先看动画</a:t>
            </a:r>
            <a:endParaRPr lang="en-US" sz="1800" dirty="0"/>
          </a:p>
        </p:txBody>
      </p:sp>
      <p:sp>
        <p:nvSpPr>
          <p:cNvPr id="5" name="prompts"/>
          <p:cNvSpPr txBox="1"/>
          <p:nvPr/>
        </p:nvSpPr>
        <p:spPr>
          <a:xfrm>
            <a:off x="8823960" y="2194560"/>
            <a:ext cx="2514600" cy="3634740"/>
          </a:xfrm>
          <a:prstGeom prst="roundRect">
            <a:avLst>
              <a:gd name="adj" fmla="val 8000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边看边找一找：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油箱藏在哪里？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活塞怎样上下跑？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尾气从哪儿出来？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第二站：电动车的肚子里有什么？</a:t>
            </a:r>
            <a:endParaRPr lang="en-US" sz="3200" dirty="0"/>
          </a:p>
        </p:txBody>
      </p:sp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59536" y="1508760"/>
            <a:ext cx="7680960" cy="4320540"/>
          </a:xfrm>
          <a:prstGeom prst="rect">
            <a:avLst/>
          </a:prstGeom>
        </p:spPr>
      </p:pic>
      <p:sp>
        <p:nvSpPr>
          <p:cNvPr id="4" name="tag"/>
          <p:cNvSpPr txBox="1"/>
          <p:nvPr/>
        </p:nvSpPr>
        <p:spPr>
          <a:xfrm>
            <a:off x="8823960" y="1508760"/>
            <a:ext cx="2468880" cy="502920"/>
          </a:xfrm>
          <a:prstGeom prst="roundRect">
            <a:avLst>
              <a:gd name="adj" fmla="val 36364"/>
            </a:avLst>
          </a:prstGeom>
          <a:solidFill>
            <a:srgbClr val="2FA35F"/>
          </a:solidFill>
          <a:ln>
            <a:solidFill>
              <a:srgbClr val="2FA35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先看动画</a:t>
            </a:r>
            <a:endParaRPr lang="en-US" sz="1800" dirty="0"/>
          </a:p>
        </p:txBody>
      </p:sp>
      <p:sp>
        <p:nvSpPr>
          <p:cNvPr id="5" name="prompts"/>
          <p:cNvSpPr txBox="1"/>
          <p:nvPr/>
        </p:nvSpPr>
        <p:spPr>
          <a:xfrm>
            <a:off x="8823960" y="2194560"/>
            <a:ext cx="2514600" cy="3634740"/>
          </a:xfrm>
          <a:prstGeom prst="roundRect">
            <a:avLst>
              <a:gd name="adj" fmla="val 8000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边看边找一找：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电池包铺在哪里？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电流往哪儿跑？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有没有排气管？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ev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e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e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ev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比一比：把两辆车拆开看看</a:t>
            </a:r>
            <a:endParaRPr lang="en-US" sz="3200" dirty="0"/>
          </a:p>
        </p:txBody>
      </p:sp>
      <p:sp>
        <p:nvSpPr>
          <p:cNvPr id="3" name="gasChip"/>
          <p:cNvSpPr txBox="1"/>
          <p:nvPr/>
        </p:nvSpPr>
        <p:spPr>
          <a:xfrm>
            <a:off x="859536" y="1508760"/>
            <a:ext cx="5120640" cy="566928"/>
          </a:xfrm>
          <a:prstGeom prst="roundRect">
            <a:avLst>
              <a:gd name="adj" fmla="val 32258"/>
            </a:avLst>
          </a:prstGeom>
          <a:solidFill>
            <a:srgbClr val="E8771A"/>
          </a:solidFill>
          <a:ln>
            <a:solidFill>
              <a:srgbClr val="E87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汽油车：零件云，会动的零件 ≈ 2000+</a:t>
            </a:r>
            <a:endParaRPr lang="en-US" sz="1800" dirty="0"/>
          </a:p>
        </p:txBody>
      </p:sp>
      <p:sp>
        <p:nvSpPr>
          <p:cNvPr id="4" name="evChip"/>
          <p:cNvSpPr txBox="1"/>
          <p:nvPr/>
        </p:nvSpPr>
        <p:spPr>
          <a:xfrm>
            <a:off x="6208776" y="1508760"/>
            <a:ext cx="5120640" cy="566928"/>
          </a:xfrm>
          <a:prstGeom prst="roundRect">
            <a:avLst>
              <a:gd name="adj" fmla="val 32258"/>
            </a:avLst>
          </a:prstGeom>
          <a:solidFill>
            <a:srgbClr val="2FA35F"/>
          </a:solidFill>
          <a:ln>
            <a:solidFill>
              <a:srgbClr val="2FA35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电动车：几个大块，会动的零件 ≈ 20</a:t>
            </a:r>
            <a:endParaRPr lang="en-US" sz="1800" dirty="0"/>
          </a:p>
        </p:txBody>
      </p:sp>
      <p:pic>
        <p:nvPicPr>
          <p:cNvPr id="3" name="compare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59536" y="2240280"/>
            <a:ext cx="10469880" cy="294436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859536" y="5349240"/>
            <a:ext cx="10469880" cy="868680"/>
          </a:xfrm>
          <a:prstGeom prst="roundRect">
            <a:avLst>
              <a:gd name="adj" fmla="val 23158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203200" rIns="203200" bIns="152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零件越少，结构越简单：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更不容易坏、更好修，也更省力气。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结构大 PK：电动车简单在哪里？</a:t>
            </a:r>
            <a:endParaRPr lang="en-US" sz="3200" dirty="0"/>
          </a:p>
        </p:txBody>
      </p:sp>
      <p:graphicFrame>
        <p:nvGraphicFramePr>
          <p:cNvPr id="17" name="pk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" y="1463040"/>
          <a:ext cx="104698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617720"/>
                <a:gridCol w="46177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5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汽油车</a:t>
                      </a:r>
                      <a:endParaRPr lang="en-US" sz="18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电动车</a:t>
                      </a:r>
                      <a:endParaRPr lang="en-US" sz="18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3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能量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油箱装汽油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电池包存电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动力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发动机：4 个活塞上下跑，好多零件一起配合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电机：一通电就转，只有定子和转子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换挡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变速箱：要在好几个挡之间换来换去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单速减速器：1 个挡就够用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保养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要换机油，还要散热器帮忙降温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不用换机油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尾气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排气管冒出尾气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没有排气管，不冒烟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刹车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刹车时，力气变成热，白白浪费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回收刹车：把力气变回电，存进电池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</a:tbl>
          </a:graphicData>
        </a:graphic>
      </p:graphicFrame>
      <p:sp>
        <p:nvSpPr>
          <p:cNvPr id="4" name="summary"/>
          <p:cNvSpPr txBox="1"/>
          <p:nvPr/>
        </p:nvSpPr>
        <p:spPr>
          <a:xfrm>
            <a:off x="859536" y="5559552"/>
            <a:ext cx="10469880" cy="658368"/>
          </a:xfrm>
          <a:prstGeom prst="roundRect">
            <a:avLst>
              <a:gd name="adj" fmla="val 30556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203200" rIns="203200" bIns="152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电动车 = 简单的三大件（电池 · 电机 · 电控）    汽油车 = 复杂的小工厂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中国汽车：两个“世界第一”，电动车“过半”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2075688" y="2331720"/>
            <a:ext cx="8037576" cy="0"/>
          </a:xfrm>
          <a:prstGeom prst="line">
            <a:avLst/>
          </a:prstGeom>
          <a:noFill/>
          <a:ln w="38100">
            <a:solidFill>
              <a:srgbClr val="C9C4BA"/>
            </a:solidFill>
            <a:prstDash val="solid"/>
          </a:ln>
        </p:spPr>
      </p:sp>
      <p:sp>
        <p:nvSpPr>
          <p:cNvPr id="4" name="dot0"/>
          <p:cNvSpPr/>
          <p:nvPr/>
        </p:nvSpPr>
        <p:spPr>
          <a:xfrm>
            <a:off x="1911096" y="2167128"/>
            <a:ext cx="329184" cy="329184"/>
          </a:xfrm>
          <a:prstGeom prst="ellipse">
            <a:avLst/>
          </a:prstGeom>
          <a:solidFill>
            <a:srgbClr val="A058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year0"/>
          <p:cNvSpPr txBox="1"/>
          <p:nvPr/>
        </p:nvSpPr>
        <p:spPr>
          <a:xfrm>
            <a:off x="795528" y="14813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0582E"/>
                </a:solidFill>
              </a:rPr>
              <a:t>2009</a:t>
            </a:r>
            <a:endParaRPr lang="en-US" sz="3600" dirty="0"/>
          </a:p>
        </p:txBody>
      </p:sp>
      <p:sp>
        <p:nvSpPr>
          <p:cNvPr id="6" name="card0"/>
          <p:cNvSpPr txBox="1"/>
          <p:nvPr/>
        </p:nvSpPr>
        <p:spPr>
          <a:xfrm>
            <a:off x="813816" y="2743200"/>
            <a:ext cx="2523744" cy="2240280"/>
          </a:xfrm>
          <a:prstGeom prst="roundRect">
            <a:avLst>
              <a:gd name="adj" fmla="val 8163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A0582E"/>
                </a:solidFill>
              </a:rPr>
              <a:t>汽车产量世界第一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4A3B30"/>
                </a:solidFill>
              </a:rPr>
              <a:t>一年造了 1379 万辆车，超过美国和日本，之后一直保持第一</a:t>
            </a:r>
            <a:endParaRPr lang="en-US" sz="1600" dirty="0"/>
          </a:p>
        </p:txBody>
      </p:sp>
      <p:sp>
        <p:nvSpPr>
          <p:cNvPr id="7" name="dot1"/>
          <p:cNvSpPr/>
          <p:nvPr/>
        </p:nvSpPr>
        <p:spPr>
          <a:xfrm>
            <a:off x="4590288" y="2167128"/>
            <a:ext cx="329184" cy="329184"/>
          </a:xfrm>
          <a:prstGeom prst="ellipse">
            <a:avLst/>
          </a:prstGeom>
          <a:solidFill>
            <a:srgbClr val="A058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year1"/>
          <p:cNvSpPr txBox="1"/>
          <p:nvPr/>
        </p:nvSpPr>
        <p:spPr>
          <a:xfrm>
            <a:off x="3474720" y="14813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0582E"/>
                </a:solidFill>
              </a:rPr>
              <a:t>2023</a:t>
            </a:r>
            <a:endParaRPr lang="en-US" sz="3600" dirty="0"/>
          </a:p>
        </p:txBody>
      </p:sp>
      <p:sp>
        <p:nvSpPr>
          <p:cNvPr id="9" name="card1"/>
          <p:cNvSpPr txBox="1"/>
          <p:nvPr/>
        </p:nvSpPr>
        <p:spPr>
          <a:xfrm>
            <a:off x="3493008" y="2743200"/>
            <a:ext cx="2523744" cy="2240280"/>
          </a:xfrm>
          <a:prstGeom prst="roundRect">
            <a:avLst>
              <a:gd name="adj" fmla="val 8163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A0582E"/>
                </a:solidFill>
              </a:rPr>
              <a:t>汽车出口世界第一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4A3B30"/>
                </a:solidFill>
              </a:rPr>
              <a:t>一年卖到国外 491 万辆，超过日本（442 万辆）</a:t>
            </a:r>
            <a:endParaRPr lang="en-US" sz="1600" dirty="0"/>
          </a:p>
        </p:txBody>
      </p:sp>
      <p:sp>
        <p:nvSpPr>
          <p:cNvPr id="10" name="dot2"/>
          <p:cNvSpPr/>
          <p:nvPr/>
        </p:nvSpPr>
        <p:spPr>
          <a:xfrm>
            <a:off x="7269480" y="2167128"/>
            <a:ext cx="329184" cy="329184"/>
          </a:xfrm>
          <a:prstGeom prst="ellipse">
            <a:avLst/>
          </a:prstGeom>
          <a:solidFill>
            <a:srgbClr val="2FA3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year2"/>
          <p:cNvSpPr txBox="1"/>
          <p:nvPr/>
        </p:nvSpPr>
        <p:spPr>
          <a:xfrm>
            <a:off x="6153912" y="14813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A35F"/>
                </a:solidFill>
              </a:rPr>
              <a:t>2024.7</a:t>
            </a:r>
            <a:endParaRPr lang="en-US" sz="3600" dirty="0"/>
          </a:p>
        </p:txBody>
      </p:sp>
      <p:sp>
        <p:nvSpPr>
          <p:cNvPr id="12" name="card2"/>
          <p:cNvSpPr txBox="1"/>
          <p:nvPr/>
        </p:nvSpPr>
        <p:spPr>
          <a:xfrm>
            <a:off x="6172200" y="2743200"/>
            <a:ext cx="2523744" cy="2240280"/>
          </a:xfrm>
          <a:prstGeom prst="roundRect">
            <a:avLst>
              <a:gd name="adj" fmla="val 8163"/>
            </a:avLst>
          </a:prstGeom>
          <a:solidFill>
            <a:srgbClr val="EAF7EE"/>
          </a:solidFill>
          <a:ln>
            <a:solidFill>
              <a:srgbClr val="EAF7EE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FA35F"/>
                </a:solidFill>
              </a:rPr>
              <a:t>新能源车首次单月过半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4A3B30"/>
                </a:solidFill>
              </a:rPr>
              <a:t>这个月卖出的新乘用车里，51.1% 是新能源车</a:t>
            </a:r>
            <a:endParaRPr lang="en-US" sz="1600" dirty="0"/>
          </a:p>
        </p:txBody>
      </p:sp>
      <p:sp>
        <p:nvSpPr>
          <p:cNvPr id="13" name="dot3"/>
          <p:cNvSpPr/>
          <p:nvPr/>
        </p:nvSpPr>
        <p:spPr>
          <a:xfrm>
            <a:off x="9948672" y="2167128"/>
            <a:ext cx="329184" cy="329184"/>
          </a:xfrm>
          <a:prstGeom prst="ellipse">
            <a:avLst/>
          </a:prstGeom>
          <a:solidFill>
            <a:srgbClr val="2FA3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year3"/>
          <p:cNvSpPr txBox="1"/>
          <p:nvPr/>
        </p:nvSpPr>
        <p:spPr>
          <a:xfrm>
            <a:off x="8833104" y="14813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A35F"/>
                </a:solidFill>
              </a:rPr>
              <a:t>2025</a:t>
            </a:r>
            <a:endParaRPr lang="en-US" sz="3600" dirty="0"/>
          </a:p>
        </p:txBody>
      </p:sp>
      <p:sp>
        <p:nvSpPr>
          <p:cNvPr id="15" name="card3"/>
          <p:cNvSpPr txBox="1"/>
          <p:nvPr/>
        </p:nvSpPr>
        <p:spPr>
          <a:xfrm>
            <a:off x="8851392" y="2743200"/>
            <a:ext cx="2523744" cy="2240280"/>
          </a:xfrm>
          <a:prstGeom prst="roundRect">
            <a:avLst>
              <a:gd name="adj" fmla="val 8163"/>
            </a:avLst>
          </a:prstGeom>
          <a:solidFill>
            <a:srgbClr val="EAF7EE"/>
          </a:solidFill>
          <a:ln>
            <a:solidFill>
              <a:srgbClr val="EAF7EE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FA35F"/>
                </a:solidFill>
              </a:rPr>
              <a:t>新能源车全年过半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4A3B30"/>
                </a:solidFill>
              </a:rPr>
              <a:t>国内全年卖出的新车里，新能源车比燃油车多</a:t>
            </a:r>
            <a:endParaRPr lang="en-US" sz="1600" dirty="0"/>
          </a:p>
        </p:txBody>
      </p:sp>
      <p:sp>
        <p:nvSpPr>
          <p:cNvPr id="16" name="sources"/>
          <p:cNvSpPr txBox="1"/>
          <p:nvPr/>
        </p:nvSpPr>
        <p:spPr>
          <a:xfrm>
            <a:off x="859536" y="525780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A5C"/>
                </a:solidFill>
              </a:rPr>
              <a:t>注：新能源车包括纯电动车和插电混动车。2024 年 7 月为乘用车零售口径（乘联会）；2025 年为国内新车销量口径（中汽协，连出口一起算约 47.9%）；产量、出口数据来自中汽协。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ids Car Science">
  <a:themeElements>
    <a:clrScheme name="Kids Car Science">
      <a:dk1>
        <a:srgbClr val="4A3B30"/>
      </a:dk1>
      <a:lt1>
        <a:srgbClr val="FFFFFF"/>
      </a:lt1>
      <a:dk2>
        <a:srgbClr val="A0582E"/>
      </a:dk2>
      <a:lt2>
        <a:srgbClr val="FAF4E0"/>
      </a:lt2>
      <a:accent1>
        <a:srgbClr val="E8771A"/>
      </a:accent1>
      <a:accent2>
        <a:srgbClr val="2FA35F"/>
      </a:accent2>
      <a:accent3>
        <a:srgbClr val="F1E8DF"/>
      </a:accent3>
      <a:accent4>
        <a:srgbClr val="3D7BD9"/>
      </a:accent4>
      <a:accent5>
        <a:srgbClr val="C9C4BA"/>
      </a:accent5>
      <a:accent6>
        <a:srgbClr val="FDFBF4"/>
      </a:accent6>
      <a:hlink>
        <a:srgbClr val="3D7BD9"/>
      </a:hlink>
      <a:folHlink>
        <a:srgbClr val="6E5A9E"/>
      </a:folHlink>
    </a:clrScheme>
    <a:fontScheme name="Kids Car Scien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汽油车 vs 电动车：肚子里有什么？</dc:title>
  <dc:subject>PptxGenJS Presentation</dc:subject>
  <dc:creator>PptxGenJS</dc:creator>
  <cp:lastModifiedBy>PptxGenJS</cp:lastModifiedBy>
  <cp:revision>1</cp:revision>
  <dcterms:created xsi:type="dcterms:W3CDTF">2026-10-17T03:21:36Z</dcterms:created>
  <dcterms:modified xsi:type="dcterms:W3CDTF">2026-10-17T03:21:36Z</dcterms:modified>
</cp:coreProperties>
</file>