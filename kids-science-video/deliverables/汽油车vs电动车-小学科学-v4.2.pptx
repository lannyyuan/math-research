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97724f5a-e3d0-d9f4-6408-fba442b71968}">
          <p14:sldIdLst>
            <p14:sldId id="256"/>
          </p14:sldIdLst>
        </p14:section>
        <p14:section name="汽油车" id="{8b82f317-1849-1037-28f6-5611f074d921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3a728156-c6af-1c65-8f08-7713384bd39b}">
          <p14:sldIdLst>
            <p14:sldId id="265"/>
            <p14:sldId id="266"/>
            <p14:sldId id="267"/>
            <p14:sldId id="268"/>
            <p14:sldId id="269"/>
          </p14:sldIdLst>
        </p14:section>
        <p14:section name="比一比" id="{406ddf22-324d-e890-aa0f-de4bcdefbfe6}">
          <p14:sldIdLst>
            <p14:sldId id="270"/>
            <p14:sldId id="271"/>
          </p14:sldIdLst>
        </p14:section>
        <p14:section name="中国汽车" id="{810b474d-fd49-669d-a380-2826e2eb8975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新能源车出口（万辆）</c:v>
                </c:pt>
              </c:strCache>
            </c:strRef>
          </c:tx>
          <c:spPr>
            <a:solidFill>
              <a:srgbClr val="2FA35F"/>
            </a:solidFill>
            <a:effectLst/>
          </c:spPr>
          <c:invertIfNegative val="0"/>
          <c:dLbls>
            <c:numFmt formatCode="0&quot;万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 年</c:v>
                  </c:pt>
                  <c:pt idx="1">
                    <c:v>2023 年</c:v>
                  </c:pt>
                  <c:pt idx="2">
                    <c:v>2025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120</c:v>
                </c:pt>
                <c:pt idx="2">
                  <c:v>262</c:v>
                </c:pt>
              </c:numCache>
            </c:numRef>
          </c:val>
        </c:ser>
        <c:dLbls>
          <c:numFmt formatCode="0&quot;万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今天我们当一回“汽车小侦探”：把汽油车和电动车的肚子打开看看，比一比谁的结构更简单。先请同学们猜一猜：哪一辆车里面的零件更多？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汽油车这一站的开始。先把三个问题抛给大家，接下来 7 页一页一页找答案：油箱在后排座椅下面；火花塞点燃汽油，推动活塞上下跑；尾气从车尾的排气管出来。每个零件页都有一段小动画，点一下就全屏播放。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油箱
点小视频，会全屏播放汽油车动画的这一段（0:02.0–0:12.0，约 10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发动机
点小视频，会全屏播放汽油车动画的这一段（0:12.0–0:28.0，约 16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变速箱
点小视频，会全屏播放汽油车动画的这一段（0:28.0–0:35.3，约 7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传动轴
点小视频，会全屏播放汽油车动画的这一段（0:32.4–0:40.0，约 8 秒，带旁白），播完回到这一页。
动画里的车是前轮驱动：发动机在前面，动力经变速箱、再由两根“半轴”送到前轮——半轴就是短短的传动轴。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散热器
点小视频，会全屏播放汽油车动画的这一段（0:40.0–0:43.6，约 4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机油系统
点小视频，会全屏播放汽油车动画的这一段（0:43.4–0:46.5，约 3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排气管
点小视频，会全屏播放汽油车动画的这一段（0:46.4–0:52.0，约 6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电动车这一站的开始。先抛出三个问题，接下来 4 页找答案：电池包平铺在车底；电流从电池流到电控，再流到电机；电动车没有排气管，也不用换机油。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电池包
点小视频，会全屏播放电动车动画的这一段（0:02.0–0:14.0，约 12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电机
点小视频，会全屏播放电动车动画的这一段（0:26.0–0:40.0，约 14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电控大脑
点小视频，会全屏播放电动车动画的这一段（0:14.0–0:26.0，约 12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回收刹车
动画里没有单独讲回收刹车，可以这样讲：踩刹车时，电机反过来变成“发电机”，车轮带着它转，发出的电又存回电池。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左边：点一下，两辆车同时拆开（11 秒）。右边：橙色小圆点是汽油车会动的零件，好多好多；绿色的是电动车，只有一点点。（老师参考：常见估算，汽油车会动的零件约 2000 个，电动车约 20 个；这里每个圆点约代表 10 个。）
可以问小朋友：零件多的车和零件少的车，哪个更容易坏？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每一行是 10 辆新车，绿色的是新能源车（纯电动和插电混动）。2021 年，10 辆里大约只有 1 辆；2023 年大约 3 辆；2025 年差不多 5 辆，快到一半了。
老师参考（中国汽车工业协会，新能源车占新车销量）：2021 年 13.4%，2023 年 31.6%，2025 年 47.9%；只算国内卖出的新车，2025 年已经超过一半。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左边：中国卖到外国的新能源车越来越多——2021 年 31 万辆，2023 年 120 万辆，2025 年 262 万辆（中国汽车工业协会）。
右边：一辆新能源车开一年，比烧油的车少排的二氧化碳（让地球变热的气体），大约等于 50 棵大树一年吸收的量。2025 年出口的 262 万辆新能源车，一年就相当于种了 1 亿多棵树（262 万 × 50 ≈ 1.3 亿）。
老师参考（估算，取保守值）：国际能源署（IEA）的全生命周期比较，一辆电动车每年比汽油车少排约 1.1–1.6 吨二氧化碳；一棵成年树一年大约吸收 22 千克二氧化碳（欧洲环境署常被引用的数字）。1.1 吨 ÷ 22 千克 ≈ 50 棵。实际多少和电是怎么发的、车开多远都有关系。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video" Target="../media/media-3-3.mp4"/><Relationship Id="rId4" Type="http://schemas.microsoft.com/office/2007/relationships/media" Target="../media/media-3-3.mp4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video" Target="../media/media-4-3.mp4"/><Relationship Id="rId4" Type="http://schemas.microsoft.com/office/2007/relationships/media" Target="../media/media-4-3.mp4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video" Target="../media/media-5-3.mp4"/><Relationship Id="rId4" Type="http://schemas.microsoft.com/office/2007/relationships/media" Target="../media/media-5-3.mp4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video" Target="../media/media-6-3.mp4"/><Relationship Id="rId4" Type="http://schemas.microsoft.com/office/2007/relationships/media" Target="../media/media-6-3.mp4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video" Target="../media/media-7-3.mp4"/><Relationship Id="rId4" Type="http://schemas.microsoft.com/office/2007/relationships/media" Target="../media/media-7-3.mp4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video" Target="../media/media-8-3.mp4"/><Relationship Id="rId4" Type="http://schemas.microsoft.com/office/2007/relationships/media" Target="../media/media-8-3.mp4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video" Target="../media/media-9-3.mp4"/><Relationship Id="rId4" Type="http://schemas.microsoft.com/office/2007/relationships/media" Target="../media/media-9-3.mp4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video" Target="../media/media-11-3.mp4"/><Relationship Id="rId4" Type="http://schemas.microsoft.com/office/2007/relationships/media" Target="../media/media-11-3.mp4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video" Target="../media/media-12-3.mp4"/><Relationship Id="rId4" Type="http://schemas.microsoft.com/office/2007/relationships/media" Target="../media/media-12-3.mp4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video" Target="../media/media-13-3.mp4"/><Relationship Id="rId4" Type="http://schemas.microsoft.com/office/2007/relationships/media" Target="../media/media-13-3.mp4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image" Target="../media/image-16-1.png"/><Relationship Id="rId12" Type="http://schemas.openxmlformats.org/officeDocument/2006/relationships/image" Target="../media/image-16-1.png"/><Relationship Id="rId13" Type="http://schemas.openxmlformats.org/officeDocument/2006/relationships/image" Target="../media/image-16-1.png"/><Relationship Id="rId14" Type="http://schemas.openxmlformats.org/officeDocument/2006/relationships/image" Target="../media/image-16-2.png"/><Relationship Id="rId15" Type="http://schemas.openxmlformats.org/officeDocument/2006/relationships/image" Target="../media/image-16-2.png"/><Relationship Id="rId16" Type="http://schemas.openxmlformats.org/officeDocument/2006/relationships/image" Target="../media/image-16-2.png"/><Relationship Id="rId17" Type="http://schemas.openxmlformats.org/officeDocument/2006/relationships/image" Target="../media/image-16-2.png"/><Relationship Id="rId18" Type="http://schemas.openxmlformats.org/officeDocument/2006/relationships/image" Target="../media/image-16-2.png"/><Relationship Id="rId19" Type="http://schemas.openxmlformats.org/officeDocument/2006/relationships/image" Target="../media/image-16-2.png"/><Relationship Id="rId20" Type="http://schemas.openxmlformats.org/officeDocument/2006/relationships/image" Target="../media/image-16-2.png"/><Relationship Id="rId21" Type="http://schemas.openxmlformats.org/officeDocument/2006/relationships/image" Target="../media/image-16-1.png"/><Relationship Id="rId22" Type="http://schemas.openxmlformats.org/officeDocument/2006/relationships/image" Target="../media/image-16-1.png"/><Relationship Id="rId23" Type="http://schemas.openxmlformats.org/officeDocument/2006/relationships/image" Target="../media/image-16-1.png"/><Relationship Id="rId24" Type="http://schemas.openxmlformats.org/officeDocument/2006/relationships/image" Target="../media/image-16-1.png"/><Relationship Id="rId25" Type="http://schemas.openxmlformats.org/officeDocument/2006/relationships/image" Target="../media/image-16-1.png"/><Relationship Id="rId26" Type="http://schemas.openxmlformats.org/officeDocument/2006/relationships/image" Target="../media/image-16-2.png"/><Relationship Id="rId27" Type="http://schemas.openxmlformats.org/officeDocument/2006/relationships/image" Target="../media/image-16-2.png"/><Relationship Id="rId28" Type="http://schemas.openxmlformats.org/officeDocument/2006/relationships/image" Target="../media/image-16-2.png"/><Relationship Id="rId29" Type="http://schemas.openxmlformats.org/officeDocument/2006/relationships/image" Target="../media/image-16-2.png"/><Relationship Id="rId30" Type="http://schemas.openxmlformats.org/officeDocument/2006/relationships/image" Target="../media/image-16-2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image" Target="../media/image-17-2.png"/><Relationship Id="rId9" Type="http://schemas.openxmlformats.org/officeDocument/2006/relationships/image" Target="../media/image-17-2.png"/><Relationship Id="rId10" Type="http://schemas.openxmlformats.org/officeDocument/2006/relationships/image" Target="../media/image-17-2.png"/><Relationship Id="rId11" Type="http://schemas.openxmlformats.org/officeDocument/2006/relationships/image" Target="../media/image-17-2.png"/><Relationship Id="rId12" Type="http://schemas.openxmlformats.org/officeDocument/2006/relationships/image" Target="../media/image-17-2.png"/><Relationship Id="rId13" Type="http://schemas.openxmlformats.org/officeDocument/2006/relationships/image" Target="../media/image-17-2.png"/><Relationship Id="rId14" Type="http://schemas.openxmlformats.org/officeDocument/2006/relationships/image" Target="../media/image-17-2.png"/><Relationship Id="rId15" Type="http://schemas.openxmlformats.org/officeDocument/2006/relationships/image" Target="../media/image-17-2.png"/><Relationship Id="rId16" Type="http://schemas.openxmlformats.org/officeDocument/2006/relationships/image" Target="../media/image-17-2.png"/><Relationship Id="rId17" Type="http://schemas.openxmlformats.org/officeDocument/2006/relationships/image" Target="../media/image-17-2.png"/><Relationship Id="rId18" Type="http://schemas.openxmlformats.org/officeDocument/2006/relationships/image" Target="../media/image-17-2.png"/><Relationship Id="rId19" Type="http://schemas.openxmlformats.org/officeDocument/2006/relationships/image" Target="../media/image-17-2.png"/><Relationship Id="rId20" Type="http://schemas.openxmlformats.org/officeDocument/2006/relationships/image" Target="../media/image-17-2.png"/><Relationship Id="rId21" Type="http://schemas.openxmlformats.org/officeDocument/2006/relationships/image" Target="../media/image-17-2.png"/><Relationship Id="rId22" Type="http://schemas.openxmlformats.org/officeDocument/2006/relationships/image" Target="../media/image-17-2.png"/><Relationship Id="rId23" Type="http://schemas.openxmlformats.org/officeDocument/2006/relationships/image" Target="../media/image-17-2.png"/><Relationship Id="rId24" Type="http://schemas.openxmlformats.org/officeDocument/2006/relationships/image" Target="../media/image-17-2.png"/><Relationship Id="rId25" Type="http://schemas.openxmlformats.org/officeDocument/2006/relationships/image" Target="../media/image-17-2.png"/><Relationship Id="rId26" Type="http://schemas.openxmlformats.org/officeDocument/2006/relationships/image" Target="../media/image-17-2.png"/><Relationship Id="rId27" Type="http://schemas.openxmlformats.org/officeDocument/2006/relationships/image" Target="../media/image-17-2.png"/><Relationship Id="rId28" Type="http://schemas.openxmlformats.org/officeDocument/2006/relationships/image" Target="../media/image-17-2.png"/><Relationship Id="rId29" Type="http://schemas.openxmlformats.org/officeDocument/2006/relationships/image" Target="../media/image-17-2.png"/><Relationship Id="rId30" Type="http://schemas.openxmlformats.org/officeDocument/2006/relationships/image" Target="../media/image-17-2.png"/><Relationship Id="rId31" Type="http://schemas.openxmlformats.org/officeDocument/2006/relationships/image" Target="../media/image-17-2.png"/><Relationship Id="rId32" Type="http://schemas.openxmlformats.org/officeDocument/2006/relationships/image" Target="../media/image-17-2.png"/><Relationship Id="rId33" Type="http://schemas.openxmlformats.org/officeDocument/2006/relationships/image" Target="../media/image-17-2.png"/><Relationship Id="rId34" Type="http://schemas.openxmlformats.org/officeDocument/2006/relationships/image" Target="../media/image-17-2.png"/><Relationship Id="rId35" Type="http://schemas.openxmlformats.org/officeDocument/2006/relationships/image" Target="../media/image-17-2.png"/><Relationship Id="rId36" Type="http://schemas.openxmlformats.org/officeDocument/2006/relationships/image" Target="../media/image-17-2.png"/><Relationship Id="rId37" Type="http://schemas.openxmlformats.org/officeDocument/2006/relationships/image" Target="../media/image-17-2.png"/><Relationship Id="rId38" Type="http://schemas.openxmlformats.org/officeDocument/2006/relationships/image" Target="../media/image-17-2.png"/><Relationship Id="rId39" Type="http://schemas.openxmlformats.org/officeDocument/2006/relationships/image" Target="../media/image-17-2.png"/><Relationship Id="rId40" Type="http://schemas.openxmlformats.org/officeDocument/2006/relationships/image" Target="../media/image-17-2.png"/><Relationship Id="rId41" Type="http://schemas.openxmlformats.org/officeDocument/2006/relationships/image" Target="../media/image-17-2.png"/><Relationship Id="rId42" Type="http://schemas.openxmlformats.org/officeDocument/2006/relationships/image" Target="../media/image-17-2.png"/><Relationship Id="rId43" Type="http://schemas.openxmlformats.org/officeDocument/2006/relationships/image" Target="../media/image-17-2.png"/><Relationship Id="rId44" Type="http://schemas.openxmlformats.org/officeDocument/2006/relationships/image" Target="../media/image-17-2.png"/><Relationship Id="rId45" Type="http://schemas.openxmlformats.org/officeDocument/2006/relationships/image" Target="../media/image-17-2.png"/><Relationship Id="rId46" Type="http://schemas.openxmlformats.org/officeDocument/2006/relationships/image" Target="../media/image-17-2.png"/><Relationship Id="rId47" Type="http://schemas.openxmlformats.org/officeDocument/2006/relationships/image" Target="../media/image-17-2.png"/><Relationship Id="rId48" Type="http://schemas.openxmlformats.org/officeDocument/2006/relationships/image" Target="../media/image-17-2.png"/><Relationship Id="rId49" Type="http://schemas.openxmlformats.org/officeDocument/2006/relationships/image" Target="../media/image-17-2.png"/><Relationship Id="rId50" Type="http://schemas.openxmlformats.org/officeDocument/2006/relationships/image" Target="../media/image-17-2.png"/><Relationship Id="rId51" Type="http://schemas.openxmlformats.org/officeDocument/2006/relationships/image" Target="../media/image-17-2.png"/><Relationship Id="rId52" Type="http://schemas.openxmlformats.org/officeDocument/2006/relationships/image" Target="../media/image-17-2.png"/><Relationship Id="rId53" Type="http://schemas.openxmlformats.org/officeDocument/2006/relationships/slideLayout" Target="../slideLayouts/slideLayout2.xml"/><Relationship Id="rId5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新能源车肚子里的秘密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汽油车 vs 电动车，一起拆开比一比！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g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油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095375" cy="561975"/>
          </a:xfrm>
          <a:prstGeom prst="rect">
            <a:avLst/>
          </a:prstGeom>
        </p:spPr>
      </p:pic>
      <p:pic>
        <p:nvPicPr>
          <p:cNvPr id="3" name="illustration" descr="这个是油箱，储存汽油，藏在后排座椅下，油泵送油 → 发动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这个是油箱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储存汽油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藏在后排座椅下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油泵送油 → 发动机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发动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发动机，① 火花塞点火，② 汽油燃烧，③ 活塞上下跑，④ 曲轴转起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A86438"/>
                </a:solidFill>
              </a:rPr>
              <a:t>这个是发动机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① 火花塞点火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② 汽油燃烧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③ 活塞上下跑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④ 曲轴转起来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变速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28775" cy="561975"/>
          </a:xfrm>
          <a:prstGeom prst="rect">
            <a:avLst/>
          </a:prstGeom>
        </p:spPr>
      </p:pic>
      <p:pic>
        <p:nvPicPr>
          <p:cNvPr id="3" name="illustration" descr="这个是变速箱，齿轮换挡，低挡：力气大，起步，高挡：转得快，快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这个是变速箱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齿轮换挡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低挡：力气大，起步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高挡：转得快，快跑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传动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传动轴，传递转动，变速箱 → 车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这个是传动轴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传递转动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变速箱 → 车轮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散热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散热器，给发动机降温，冷却液 + 风 → 变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这个是散热器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给发动机降温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冷却液 + 风 → 变凉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机油系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2171700" cy="566738"/>
          </a:xfrm>
          <a:prstGeom prst="rect">
            <a:avLst/>
          </a:prstGeom>
        </p:spPr>
      </p:pic>
      <p:pic>
        <p:nvPicPr>
          <p:cNvPr id="3" name="illustration" descr="这个是机油，润滑零件，减少摩擦和磨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这个是机油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润滑零件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减少摩擦和磨损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排气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3" y="695325"/>
            <a:ext cx="1638300" cy="566738"/>
          </a:xfrm>
          <a:prstGeom prst="rect">
            <a:avLst/>
          </a:prstGeom>
        </p:spPr>
      </p:pic>
      <p:pic>
        <p:nvPicPr>
          <p:cNvPr id="3" name="illustration" descr="这个是排气管，排出废气，消声器：声音变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这个是排气管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排出废气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消声器：声音变小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e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池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581150" cy="561975"/>
          </a:xfrm>
          <a:prstGeom prst="rect">
            <a:avLst/>
          </a:prstGeom>
        </p:spPr>
      </p:pic>
      <p:pic>
        <p:nvPicPr>
          <p:cNvPr id="3" name="illustration" descr="这个是电池包，储存电能，许多小电池组成，平铺在车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这个是电池包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储存电能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许多小电池组成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平铺在车底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057275" cy="566738"/>
          </a:xfrm>
          <a:prstGeom prst="rect">
            <a:avLst/>
          </a:prstGeom>
        </p:spPr>
      </p:pic>
      <p:pic>
        <p:nvPicPr>
          <p:cNvPr id="3" name="illustration" descr="这个是电机，电能 → 转动，带动车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439" y="1417320"/>
            <a:ext cx="4786977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99367" y="1417320"/>
            <a:ext cx="5283200" cy="2971800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4709160"/>
            <a:ext cx="5362863" cy="1554480"/>
          </a:xfrm>
          <a:prstGeom prst="roundRect">
            <a:avLst>
              <a:gd name="adj" fmla="val 11765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这个是电机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电能 → 转动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带动车轮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控大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2114550" cy="561975"/>
          </a:xfrm>
          <a:prstGeom prst="rect">
            <a:avLst/>
          </a:prstGeom>
        </p:spPr>
      </p:pic>
      <p:pic>
        <p:nvPicPr>
          <p:cNvPr id="3" name="illustration" descr="这个是电控，电动车的“大脑”，控制车速快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这个是电控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电动车的“大脑”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控制车速快慢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回收刹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695325"/>
            <a:ext cx="2128838" cy="566738"/>
          </a:xfrm>
          <a:prstGeom prst="rect">
            <a:avLst/>
          </a:prstGeom>
        </p:spPr>
      </p:pic>
      <p:pic>
        <p:nvPicPr>
          <p:cNvPr id="3" name="illustration" descr="这个是回收刹车，刹车时发电，动能 → 电能，存回电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sp>
        <p:nvSpPr>
          <p:cNvPr id="4" name="bubble"/>
          <p:cNvSpPr txBox="1"/>
          <p:nvPr/>
        </p:nvSpPr>
        <p:spPr>
          <a:xfrm>
            <a:off x="7351216" y="2468880"/>
            <a:ext cx="3978200" cy="2743200"/>
          </a:xfrm>
          <a:prstGeom prst="roundRect">
            <a:avLst>
              <a:gd name="adj" fmla="val 6667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这个是回收刹车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刹车时发电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动能 → 电能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存回电池</a:t>
            </a:r>
            <a:endParaRPr lang="en-US" sz="2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比一比：谁的零件多？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5C"/>
                </a:solidFill>
              </a:rPr>
              <a:t>▶ 点一下，看两辆车拆开</a:t>
            </a:r>
            <a:endParaRPr lang="en-US" sz="18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7" name="gasMany"/>
          <p:cNvSpPr txBox="1"/>
          <p:nvPr/>
        </p:nvSpPr>
        <p:spPr>
          <a:xfrm>
            <a:off x="8531352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1A"/>
                </a:solidFill>
              </a:rPr>
              <a:t>零件好多好多！</a:t>
            </a:r>
            <a:endParaRPr lang="en-US" sz="2200" dirty="0"/>
          </a:p>
        </p:txBody>
      </p:sp>
      <p:sp>
        <p:nvSpPr>
          <p:cNvPr id="8" name="gasDot0"/>
          <p:cNvSpPr/>
          <p:nvPr/>
        </p:nvSpPr>
        <p:spPr>
          <a:xfrm>
            <a:off x="722604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434840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209" name="evFew"/>
          <p:cNvSpPr txBox="1"/>
          <p:nvPr/>
        </p:nvSpPr>
        <p:spPr>
          <a:xfrm>
            <a:off x="8531352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零件少少的</a:t>
            </a:r>
            <a:endParaRPr lang="en-US" sz="2200" dirty="0"/>
          </a:p>
        </p:txBody>
      </p:sp>
      <p:sp>
        <p:nvSpPr>
          <p:cNvPr id="210" name="evDot0"/>
          <p:cNvSpPr/>
          <p:nvPr/>
        </p:nvSpPr>
        <p:spPr>
          <a:xfrm>
            <a:off x="10424160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716768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零件少，就不容易坏！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在中国，新能源车越来越多！</a:t>
            </a:r>
            <a:endParaRPr lang="en-US" sz="3200" dirty="0"/>
          </a:p>
        </p:txBody>
      </p:sp>
      <p:sp>
        <p:nvSpPr>
          <p:cNvPr id="3" name="hint"/>
          <p:cNvSpPr txBox="1"/>
          <p:nvPr/>
        </p:nvSpPr>
        <p:spPr>
          <a:xfrm>
            <a:off x="859536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每 10 辆新车里，</a:t>
            </a:r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绿色的</a:t>
            </a:r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是新能源车</a:t>
            </a:r>
            <a:endParaRPr lang="en-US" sz="2200" dirty="0"/>
          </a:p>
        </p:txBody>
      </p:sp>
      <p:sp>
        <p:nvSpPr>
          <p:cNvPr id="4" name="year0"/>
          <p:cNvSpPr txBox="1"/>
          <p:nvPr/>
        </p:nvSpPr>
        <p:spPr>
          <a:xfrm>
            <a:off x="859536" y="204917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2021 年</a:t>
            </a:r>
            <a:endParaRPr lang="en-US" sz="2000" dirty="0"/>
          </a:p>
        </p:txBody>
      </p:sp>
      <p:pic>
        <p:nvPicPr>
          <p:cNvPr id="5" name="car0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13232" cy="404165"/>
          </a:xfrm>
          <a:prstGeom prst="rect">
            <a:avLst/>
          </a:prstGeom>
        </p:spPr>
      </p:pic>
      <p:pic>
        <p:nvPicPr>
          <p:cNvPr id="6" name="car0_1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03120"/>
            <a:ext cx="713232" cy="404165"/>
          </a:xfrm>
          <a:prstGeom prst="rect">
            <a:avLst/>
          </a:prstGeom>
        </p:spPr>
      </p:pic>
      <p:pic>
        <p:nvPicPr>
          <p:cNvPr id="7" name="car0_2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103120"/>
            <a:ext cx="713232" cy="404165"/>
          </a:xfrm>
          <a:prstGeom prst="rect">
            <a:avLst/>
          </a:prstGeom>
        </p:spPr>
      </p:pic>
      <p:pic>
        <p:nvPicPr>
          <p:cNvPr id="8" name="car0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03120"/>
            <a:ext cx="713232" cy="404165"/>
          </a:xfrm>
          <a:prstGeom prst="rect">
            <a:avLst/>
          </a:prstGeom>
        </p:spPr>
      </p:pic>
      <p:pic>
        <p:nvPicPr>
          <p:cNvPr id="9" name="car0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03120"/>
            <a:ext cx="713232" cy="404165"/>
          </a:xfrm>
          <a:prstGeom prst="rect">
            <a:avLst/>
          </a:prstGeom>
        </p:spPr>
      </p:pic>
      <p:pic>
        <p:nvPicPr>
          <p:cNvPr id="10" name="car0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3120"/>
            <a:ext cx="713232" cy="404165"/>
          </a:xfrm>
          <a:prstGeom prst="rect">
            <a:avLst/>
          </a:prstGeom>
        </p:spPr>
      </p:pic>
      <p:pic>
        <p:nvPicPr>
          <p:cNvPr id="11" name="car0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103120"/>
            <a:ext cx="713232" cy="404165"/>
          </a:xfrm>
          <a:prstGeom prst="rect">
            <a:avLst/>
          </a:prstGeom>
        </p:spPr>
      </p:pic>
      <p:pic>
        <p:nvPicPr>
          <p:cNvPr id="12" name="car0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103120"/>
            <a:ext cx="713232" cy="404165"/>
          </a:xfrm>
          <a:prstGeom prst="rect">
            <a:avLst/>
          </a:prstGeom>
        </p:spPr>
      </p:pic>
      <p:pic>
        <p:nvPicPr>
          <p:cNvPr id="13" name="car0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16" y="2103120"/>
            <a:ext cx="713232" cy="404165"/>
          </a:xfrm>
          <a:prstGeom prst="rect">
            <a:avLst/>
          </a:prstGeom>
        </p:spPr>
      </p:pic>
      <p:pic>
        <p:nvPicPr>
          <p:cNvPr id="14" name="car0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2103120"/>
            <a:ext cx="713232" cy="404165"/>
          </a:xfrm>
          <a:prstGeom prst="rect">
            <a:avLst/>
          </a:prstGeom>
        </p:spPr>
      </p:pic>
      <p:sp>
        <p:nvSpPr>
          <p:cNvPr id="15" name="count0"/>
          <p:cNvSpPr txBox="1"/>
          <p:nvPr/>
        </p:nvSpPr>
        <p:spPr>
          <a:xfrm>
            <a:off x="10561320" y="201168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16" name="year1"/>
          <p:cNvSpPr txBox="1"/>
          <p:nvPr/>
        </p:nvSpPr>
        <p:spPr>
          <a:xfrm>
            <a:off x="859536" y="300929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2023 年</a:t>
            </a:r>
            <a:endParaRPr lang="en-US" sz="2000" dirty="0"/>
          </a:p>
        </p:txBody>
      </p:sp>
      <p:pic>
        <p:nvPicPr>
          <p:cNvPr id="17" name="car1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063240"/>
            <a:ext cx="713232" cy="404165"/>
          </a:xfrm>
          <a:prstGeom prst="rect">
            <a:avLst/>
          </a:prstGeom>
        </p:spPr>
      </p:pic>
      <p:pic>
        <p:nvPicPr>
          <p:cNvPr id="18" name="car1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12" y="3063240"/>
            <a:ext cx="713232" cy="404165"/>
          </a:xfrm>
          <a:prstGeom prst="rect">
            <a:avLst/>
          </a:prstGeom>
        </p:spPr>
      </p:pic>
      <p:pic>
        <p:nvPicPr>
          <p:cNvPr id="19" name="car1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4" y="3063240"/>
            <a:ext cx="713232" cy="404165"/>
          </a:xfrm>
          <a:prstGeom prst="rect">
            <a:avLst/>
          </a:prstGeom>
        </p:spPr>
      </p:pic>
      <p:pic>
        <p:nvPicPr>
          <p:cNvPr id="20" name="car1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3063240"/>
            <a:ext cx="713232" cy="404165"/>
          </a:xfrm>
          <a:prstGeom prst="rect">
            <a:avLst/>
          </a:prstGeom>
        </p:spPr>
      </p:pic>
      <p:pic>
        <p:nvPicPr>
          <p:cNvPr id="21" name="car1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6128" y="3063240"/>
            <a:ext cx="713232" cy="404165"/>
          </a:xfrm>
          <a:prstGeom prst="rect">
            <a:avLst/>
          </a:prstGeom>
        </p:spPr>
      </p:pic>
      <p:pic>
        <p:nvPicPr>
          <p:cNvPr id="22" name="car1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63240"/>
            <a:ext cx="713232" cy="404165"/>
          </a:xfrm>
          <a:prstGeom prst="rect">
            <a:avLst/>
          </a:prstGeom>
        </p:spPr>
      </p:pic>
      <p:pic>
        <p:nvPicPr>
          <p:cNvPr id="23" name="car1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5472" y="3063240"/>
            <a:ext cx="713232" cy="404165"/>
          </a:xfrm>
          <a:prstGeom prst="rect">
            <a:avLst/>
          </a:prstGeom>
        </p:spPr>
      </p:pic>
      <p:pic>
        <p:nvPicPr>
          <p:cNvPr id="24" name="car1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144" y="3063240"/>
            <a:ext cx="713232" cy="404165"/>
          </a:xfrm>
          <a:prstGeom prst="rect">
            <a:avLst/>
          </a:prstGeom>
        </p:spPr>
      </p:pic>
      <p:pic>
        <p:nvPicPr>
          <p:cNvPr id="25" name="car1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3063240"/>
            <a:ext cx="713232" cy="404165"/>
          </a:xfrm>
          <a:prstGeom prst="rect">
            <a:avLst/>
          </a:prstGeom>
        </p:spPr>
      </p:pic>
      <p:pic>
        <p:nvPicPr>
          <p:cNvPr id="26" name="car1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9488" y="3063240"/>
            <a:ext cx="713232" cy="404165"/>
          </a:xfrm>
          <a:prstGeom prst="rect">
            <a:avLst/>
          </a:prstGeom>
        </p:spPr>
      </p:pic>
      <p:sp>
        <p:nvSpPr>
          <p:cNvPr id="27" name="count1"/>
          <p:cNvSpPr txBox="1"/>
          <p:nvPr/>
        </p:nvSpPr>
        <p:spPr>
          <a:xfrm>
            <a:off x="10561320" y="297180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28" name="year2"/>
          <p:cNvSpPr txBox="1"/>
          <p:nvPr/>
        </p:nvSpPr>
        <p:spPr>
          <a:xfrm>
            <a:off x="859536" y="396941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年</a:t>
            </a:r>
            <a:endParaRPr lang="en-US" sz="2000" dirty="0"/>
          </a:p>
        </p:txBody>
      </p:sp>
      <p:pic>
        <p:nvPicPr>
          <p:cNvPr id="29" name="car2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4023360"/>
            <a:ext cx="713232" cy="404165"/>
          </a:xfrm>
          <a:prstGeom prst="rect">
            <a:avLst/>
          </a:prstGeom>
        </p:spPr>
      </p:pic>
      <p:pic>
        <p:nvPicPr>
          <p:cNvPr id="30" name="car2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112" y="4023360"/>
            <a:ext cx="713232" cy="404165"/>
          </a:xfrm>
          <a:prstGeom prst="rect">
            <a:avLst/>
          </a:prstGeom>
        </p:spPr>
      </p:pic>
      <p:pic>
        <p:nvPicPr>
          <p:cNvPr id="31" name="car2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4023360"/>
            <a:ext cx="713232" cy="404165"/>
          </a:xfrm>
          <a:prstGeom prst="rect">
            <a:avLst/>
          </a:prstGeom>
        </p:spPr>
      </p:pic>
      <p:pic>
        <p:nvPicPr>
          <p:cNvPr id="32" name="car2_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91456" y="4023360"/>
            <a:ext cx="713232" cy="404165"/>
          </a:xfrm>
          <a:prstGeom prst="rect">
            <a:avLst/>
          </a:prstGeom>
        </p:spPr>
      </p:pic>
      <p:pic>
        <p:nvPicPr>
          <p:cNvPr id="33" name="car2_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6128" y="4023360"/>
            <a:ext cx="713232" cy="404165"/>
          </a:xfrm>
          <a:prstGeom prst="rect">
            <a:avLst/>
          </a:prstGeom>
        </p:spPr>
      </p:pic>
      <p:pic>
        <p:nvPicPr>
          <p:cNvPr id="34" name="car2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23360"/>
            <a:ext cx="713232" cy="404165"/>
          </a:xfrm>
          <a:prstGeom prst="rect">
            <a:avLst/>
          </a:prstGeom>
        </p:spPr>
      </p:pic>
      <p:pic>
        <p:nvPicPr>
          <p:cNvPr id="35" name="car2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05472" y="4023360"/>
            <a:ext cx="713232" cy="404165"/>
          </a:xfrm>
          <a:prstGeom prst="rect">
            <a:avLst/>
          </a:prstGeom>
        </p:spPr>
      </p:pic>
      <p:pic>
        <p:nvPicPr>
          <p:cNvPr id="36" name="car2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10144" y="4023360"/>
            <a:ext cx="713232" cy="404165"/>
          </a:xfrm>
          <a:prstGeom prst="rect">
            <a:avLst/>
          </a:prstGeom>
        </p:spPr>
      </p:pic>
      <p:pic>
        <p:nvPicPr>
          <p:cNvPr id="37" name="car2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14816" y="4023360"/>
            <a:ext cx="713232" cy="404165"/>
          </a:xfrm>
          <a:prstGeom prst="rect">
            <a:avLst/>
          </a:prstGeom>
        </p:spPr>
      </p:pic>
      <p:pic>
        <p:nvPicPr>
          <p:cNvPr id="38" name="car2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9488" y="4023360"/>
            <a:ext cx="713232" cy="404165"/>
          </a:xfrm>
          <a:prstGeom prst="rect">
            <a:avLst/>
          </a:prstGeom>
        </p:spPr>
      </p:pic>
      <p:sp>
        <p:nvSpPr>
          <p:cNvPr id="39" name="count2"/>
          <p:cNvSpPr txBox="1"/>
          <p:nvPr/>
        </p:nvSpPr>
        <p:spPr>
          <a:xfrm>
            <a:off x="10561320" y="393192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40" name="takeaway"/>
          <p:cNvSpPr txBox="1"/>
          <p:nvPr/>
        </p:nvSpPr>
        <p:spPr>
          <a:xfrm>
            <a:off x="859536" y="5166360"/>
            <a:ext cx="10469880" cy="1005840"/>
          </a:xfrm>
          <a:prstGeom prst="roundRect">
            <a:avLst>
              <a:gd name="adj" fmla="val 20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绿色的车，越来越多啦！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卖到全世界，帮地球种树！</a:t>
            </a:r>
            <a:endParaRPr lang="en-US" sz="3200" dirty="0"/>
          </a:p>
        </p:txBody>
      </p:sp>
      <p:sp>
        <p:nvSpPr>
          <p:cNvPr id="3" name="exportPanel"/>
          <p:cNvSpPr/>
          <p:nvPr/>
        </p:nvSpPr>
        <p:spPr>
          <a:xfrm>
            <a:off x="859536" y="1417320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exportTitle"/>
          <p:cNvSpPr txBox="1"/>
          <p:nvPr/>
        </p:nvSpPr>
        <p:spPr>
          <a:xfrm>
            <a:off x="1060704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卖到外国的新能源车</a:t>
            </a:r>
            <a:endParaRPr lang="en-US" sz="2200" dirty="0"/>
          </a:p>
        </p:txBody>
      </p:sp>
      <p:graphicFrame>
        <p:nvGraphicFramePr>
          <p:cNvPr id="5" name="exportChart" descr=""/>
          <p:cNvGraphicFramePr/>
          <p:nvPr/>
        </p:nvGraphicFramePr>
        <p:xfrm>
          <a:off x="950976" y="2057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eePanel"/>
          <p:cNvSpPr/>
          <p:nvPr/>
        </p:nvSpPr>
        <p:spPr>
          <a:xfrm>
            <a:off x="6035040" y="1417320"/>
            <a:ext cx="5294376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oneCar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2768"/>
            <a:ext cx="914400" cy="518160"/>
          </a:xfrm>
          <a:prstGeom prst="rect">
            <a:avLst/>
          </a:prstGeom>
        </p:spPr>
      </p:pic>
      <p:sp>
        <p:nvSpPr>
          <p:cNvPr id="8" name="equation"/>
          <p:cNvSpPr txBox="1"/>
          <p:nvPr/>
        </p:nvSpPr>
        <p:spPr>
          <a:xfrm>
            <a:off x="7269480" y="1536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1 辆新能源车 ≈ </a:t>
            </a:r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50 棵树</a:t>
            </a:r>
            <a:endParaRPr lang="en-US" sz="2200" dirty="0"/>
          </a:p>
        </p:txBody>
      </p:sp>
      <p:pic>
        <p:nvPicPr>
          <p:cNvPr id="9" name="tree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286000"/>
            <a:ext cx="347472" cy="416966"/>
          </a:xfrm>
          <a:prstGeom prst="rect">
            <a:avLst/>
          </a:prstGeom>
        </p:spPr>
      </p:pic>
      <p:pic>
        <p:nvPicPr>
          <p:cNvPr id="10" name="tree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286000"/>
            <a:ext cx="347472" cy="416966"/>
          </a:xfrm>
          <a:prstGeom prst="rect">
            <a:avLst/>
          </a:prstGeom>
        </p:spPr>
      </p:pic>
      <p:pic>
        <p:nvPicPr>
          <p:cNvPr id="11" name="tree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286000"/>
            <a:ext cx="347472" cy="416966"/>
          </a:xfrm>
          <a:prstGeom prst="rect">
            <a:avLst/>
          </a:prstGeom>
        </p:spPr>
      </p:pic>
      <p:pic>
        <p:nvPicPr>
          <p:cNvPr id="12" name="tree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24" y="2286000"/>
            <a:ext cx="347472" cy="416966"/>
          </a:xfrm>
          <a:prstGeom prst="rect">
            <a:avLst/>
          </a:prstGeom>
        </p:spPr>
      </p:pic>
      <p:pic>
        <p:nvPicPr>
          <p:cNvPr id="13" name="tree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2286000"/>
            <a:ext cx="347472" cy="416966"/>
          </a:xfrm>
          <a:prstGeom prst="rect">
            <a:avLst/>
          </a:prstGeom>
        </p:spPr>
      </p:pic>
      <p:pic>
        <p:nvPicPr>
          <p:cNvPr id="14" name="tree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2286000"/>
            <a:ext cx="347472" cy="416966"/>
          </a:xfrm>
          <a:prstGeom prst="rect">
            <a:avLst/>
          </a:prstGeom>
        </p:spPr>
      </p:pic>
      <p:pic>
        <p:nvPicPr>
          <p:cNvPr id="15" name="tree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2286000"/>
            <a:ext cx="347472" cy="416966"/>
          </a:xfrm>
          <a:prstGeom prst="rect">
            <a:avLst/>
          </a:prstGeom>
        </p:spPr>
      </p:pic>
      <p:pic>
        <p:nvPicPr>
          <p:cNvPr id="16" name="tree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772" y="2286000"/>
            <a:ext cx="347472" cy="416966"/>
          </a:xfrm>
          <a:prstGeom prst="rect">
            <a:avLst/>
          </a:prstGeom>
        </p:spPr>
      </p:pic>
      <p:pic>
        <p:nvPicPr>
          <p:cNvPr id="17" name="tree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4684" y="2286000"/>
            <a:ext cx="347472" cy="416966"/>
          </a:xfrm>
          <a:prstGeom prst="rect">
            <a:avLst/>
          </a:prstGeom>
        </p:spPr>
      </p:pic>
      <p:pic>
        <p:nvPicPr>
          <p:cNvPr id="18" name="tree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2286000"/>
            <a:ext cx="347472" cy="416966"/>
          </a:xfrm>
          <a:prstGeom prst="rect">
            <a:avLst/>
          </a:prstGeom>
        </p:spPr>
      </p:pic>
      <p:pic>
        <p:nvPicPr>
          <p:cNvPr id="19" name="tree1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88" y="2721254"/>
            <a:ext cx="347472" cy="416966"/>
          </a:xfrm>
          <a:prstGeom prst="rect">
            <a:avLst/>
          </a:prstGeom>
        </p:spPr>
      </p:pic>
      <p:pic>
        <p:nvPicPr>
          <p:cNvPr id="20" name="tree1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300" y="2721254"/>
            <a:ext cx="347472" cy="416966"/>
          </a:xfrm>
          <a:prstGeom prst="rect">
            <a:avLst/>
          </a:prstGeom>
        </p:spPr>
      </p:pic>
      <p:pic>
        <p:nvPicPr>
          <p:cNvPr id="21" name="tree1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212" y="2721254"/>
            <a:ext cx="347472" cy="416966"/>
          </a:xfrm>
          <a:prstGeom prst="rect">
            <a:avLst/>
          </a:prstGeom>
        </p:spPr>
      </p:pic>
      <p:pic>
        <p:nvPicPr>
          <p:cNvPr id="22" name="tree1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0124" y="2721254"/>
            <a:ext cx="347472" cy="416966"/>
          </a:xfrm>
          <a:prstGeom prst="rect">
            <a:avLst/>
          </a:prstGeom>
        </p:spPr>
      </p:pic>
      <p:pic>
        <p:nvPicPr>
          <p:cNvPr id="23" name="tree1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036" y="2721254"/>
            <a:ext cx="347472" cy="416966"/>
          </a:xfrm>
          <a:prstGeom prst="rect">
            <a:avLst/>
          </a:prstGeom>
        </p:spPr>
      </p:pic>
      <p:pic>
        <p:nvPicPr>
          <p:cNvPr id="24" name="tree1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7948" y="2721254"/>
            <a:ext cx="347472" cy="416966"/>
          </a:xfrm>
          <a:prstGeom prst="rect">
            <a:avLst/>
          </a:prstGeom>
        </p:spPr>
      </p:pic>
      <p:pic>
        <p:nvPicPr>
          <p:cNvPr id="25" name="tree1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6860" y="2721254"/>
            <a:ext cx="347472" cy="416966"/>
          </a:xfrm>
          <a:prstGeom prst="rect">
            <a:avLst/>
          </a:prstGeom>
        </p:spPr>
      </p:pic>
      <p:pic>
        <p:nvPicPr>
          <p:cNvPr id="26" name="tree1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772" y="2721254"/>
            <a:ext cx="347472" cy="416966"/>
          </a:xfrm>
          <a:prstGeom prst="rect">
            <a:avLst/>
          </a:prstGeom>
        </p:spPr>
      </p:pic>
      <p:pic>
        <p:nvPicPr>
          <p:cNvPr id="27" name="tree1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4684" y="2721254"/>
            <a:ext cx="347472" cy="416966"/>
          </a:xfrm>
          <a:prstGeom prst="rect">
            <a:avLst/>
          </a:prstGeom>
        </p:spPr>
      </p:pic>
      <p:pic>
        <p:nvPicPr>
          <p:cNvPr id="28" name="tree1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596" y="2721254"/>
            <a:ext cx="347472" cy="416966"/>
          </a:xfrm>
          <a:prstGeom prst="rect">
            <a:avLst/>
          </a:prstGeom>
        </p:spPr>
      </p:pic>
      <p:pic>
        <p:nvPicPr>
          <p:cNvPr id="29" name="tree2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3388" y="3156509"/>
            <a:ext cx="347472" cy="416966"/>
          </a:xfrm>
          <a:prstGeom prst="rect">
            <a:avLst/>
          </a:prstGeom>
        </p:spPr>
      </p:pic>
      <p:pic>
        <p:nvPicPr>
          <p:cNvPr id="30" name="tree2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3156509"/>
            <a:ext cx="347472" cy="416966"/>
          </a:xfrm>
          <a:prstGeom prst="rect">
            <a:avLst/>
          </a:prstGeom>
        </p:spPr>
      </p:pic>
      <p:pic>
        <p:nvPicPr>
          <p:cNvPr id="31" name="tree2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1212" y="3156509"/>
            <a:ext cx="347472" cy="416966"/>
          </a:xfrm>
          <a:prstGeom prst="rect">
            <a:avLst/>
          </a:prstGeom>
        </p:spPr>
      </p:pic>
      <p:pic>
        <p:nvPicPr>
          <p:cNvPr id="32" name="tree2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0124" y="3156509"/>
            <a:ext cx="347472" cy="416966"/>
          </a:xfrm>
          <a:prstGeom prst="rect">
            <a:avLst/>
          </a:prstGeom>
        </p:spPr>
      </p:pic>
      <p:pic>
        <p:nvPicPr>
          <p:cNvPr id="33" name="tree2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9036" y="3156509"/>
            <a:ext cx="347472" cy="416966"/>
          </a:xfrm>
          <a:prstGeom prst="rect">
            <a:avLst/>
          </a:prstGeom>
        </p:spPr>
      </p:pic>
      <p:pic>
        <p:nvPicPr>
          <p:cNvPr id="34" name="tree2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948" y="3156509"/>
            <a:ext cx="347472" cy="416966"/>
          </a:xfrm>
          <a:prstGeom prst="rect">
            <a:avLst/>
          </a:prstGeom>
        </p:spPr>
      </p:pic>
      <p:pic>
        <p:nvPicPr>
          <p:cNvPr id="35" name="tree2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6860" y="3156509"/>
            <a:ext cx="347472" cy="416966"/>
          </a:xfrm>
          <a:prstGeom prst="rect">
            <a:avLst/>
          </a:prstGeom>
        </p:spPr>
      </p:pic>
      <p:pic>
        <p:nvPicPr>
          <p:cNvPr id="36" name="tree2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5772" y="3156509"/>
            <a:ext cx="347472" cy="416966"/>
          </a:xfrm>
          <a:prstGeom prst="rect">
            <a:avLst/>
          </a:prstGeom>
        </p:spPr>
      </p:pic>
      <p:pic>
        <p:nvPicPr>
          <p:cNvPr id="37" name="tree2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44684" y="3156509"/>
            <a:ext cx="347472" cy="416966"/>
          </a:xfrm>
          <a:prstGeom prst="rect">
            <a:avLst/>
          </a:prstGeom>
        </p:spPr>
      </p:pic>
      <p:pic>
        <p:nvPicPr>
          <p:cNvPr id="38" name="tree2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83596" y="3156509"/>
            <a:ext cx="347472" cy="416966"/>
          </a:xfrm>
          <a:prstGeom prst="rect">
            <a:avLst/>
          </a:prstGeom>
        </p:spPr>
      </p:pic>
      <p:pic>
        <p:nvPicPr>
          <p:cNvPr id="39" name="tree3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3388" y="3591763"/>
            <a:ext cx="347472" cy="416966"/>
          </a:xfrm>
          <a:prstGeom prst="rect">
            <a:avLst/>
          </a:prstGeom>
        </p:spPr>
      </p:pic>
      <p:pic>
        <p:nvPicPr>
          <p:cNvPr id="40" name="tree3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300" y="3591763"/>
            <a:ext cx="347472" cy="416966"/>
          </a:xfrm>
          <a:prstGeom prst="rect">
            <a:avLst/>
          </a:prstGeom>
        </p:spPr>
      </p:pic>
      <p:pic>
        <p:nvPicPr>
          <p:cNvPr id="41" name="tree3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11212" y="3591763"/>
            <a:ext cx="347472" cy="416966"/>
          </a:xfrm>
          <a:prstGeom prst="rect">
            <a:avLst/>
          </a:prstGeom>
        </p:spPr>
      </p:pic>
      <p:pic>
        <p:nvPicPr>
          <p:cNvPr id="42" name="tree3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0124" y="3591763"/>
            <a:ext cx="347472" cy="416966"/>
          </a:xfrm>
          <a:prstGeom prst="rect">
            <a:avLst/>
          </a:prstGeom>
        </p:spPr>
      </p:pic>
      <p:pic>
        <p:nvPicPr>
          <p:cNvPr id="43" name="tree3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89036" y="3591763"/>
            <a:ext cx="347472" cy="416966"/>
          </a:xfrm>
          <a:prstGeom prst="rect">
            <a:avLst/>
          </a:prstGeom>
        </p:spPr>
      </p:pic>
      <p:pic>
        <p:nvPicPr>
          <p:cNvPr id="44" name="tree3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7948" y="3591763"/>
            <a:ext cx="347472" cy="416966"/>
          </a:xfrm>
          <a:prstGeom prst="rect">
            <a:avLst/>
          </a:prstGeom>
        </p:spPr>
      </p:pic>
      <p:pic>
        <p:nvPicPr>
          <p:cNvPr id="45" name="tree3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66860" y="3591763"/>
            <a:ext cx="347472" cy="416966"/>
          </a:xfrm>
          <a:prstGeom prst="rect">
            <a:avLst/>
          </a:prstGeom>
        </p:spPr>
      </p:pic>
      <p:pic>
        <p:nvPicPr>
          <p:cNvPr id="46" name="tree3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05772" y="3591763"/>
            <a:ext cx="347472" cy="416966"/>
          </a:xfrm>
          <a:prstGeom prst="rect">
            <a:avLst/>
          </a:prstGeom>
        </p:spPr>
      </p:pic>
      <p:pic>
        <p:nvPicPr>
          <p:cNvPr id="47" name="tree3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44684" y="3591763"/>
            <a:ext cx="347472" cy="416966"/>
          </a:xfrm>
          <a:prstGeom prst="rect">
            <a:avLst/>
          </a:prstGeom>
        </p:spPr>
      </p:pic>
      <p:pic>
        <p:nvPicPr>
          <p:cNvPr id="48" name="tree3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83596" y="3591763"/>
            <a:ext cx="347472" cy="416966"/>
          </a:xfrm>
          <a:prstGeom prst="rect">
            <a:avLst/>
          </a:prstGeom>
        </p:spPr>
      </p:pic>
      <p:pic>
        <p:nvPicPr>
          <p:cNvPr id="49" name="tree4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533388" y="4027018"/>
            <a:ext cx="347472" cy="416966"/>
          </a:xfrm>
          <a:prstGeom prst="rect">
            <a:avLst/>
          </a:prstGeom>
        </p:spPr>
      </p:pic>
      <p:pic>
        <p:nvPicPr>
          <p:cNvPr id="50" name="tree4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72300" y="4027018"/>
            <a:ext cx="347472" cy="416966"/>
          </a:xfrm>
          <a:prstGeom prst="rect">
            <a:avLst/>
          </a:prstGeom>
        </p:spPr>
      </p:pic>
      <p:pic>
        <p:nvPicPr>
          <p:cNvPr id="51" name="tree4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411212" y="4027018"/>
            <a:ext cx="347472" cy="416966"/>
          </a:xfrm>
          <a:prstGeom prst="rect">
            <a:avLst/>
          </a:prstGeom>
        </p:spPr>
      </p:pic>
      <p:pic>
        <p:nvPicPr>
          <p:cNvPr id="52" name="tree4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50124" y="4027018"/>
            <a:ext cx="347472" cy="416966"/>
          </a:xfrm>
          <a:prstGeom prst="rect">
            <a:avLst/>
          </a:prstGeom>
        </p:spPr>
      </p:pic>
      <p:pic>
        <p:nvPicPr>
          <p:cNvPr id="53" name="tree4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89036" y="4027018"/>
            <a:ext cx="347472" cy="416966"/>
          </a:xfrm>
          <a:prstGeom prst="rect">
            <a:avLst/>
          </a:prstGeom>
        </p:spPr>
      </p:pic>
      <p:pic>
        <p:nvPicPr>
          <p:cNvPr id="54" name="tree4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27948" y="4027018"/>
            <a:ext cx="347472" cy="416966"/>
          </a:xfrm>
          <a:prstGeom prst="rect">
            <a:avLst/>
          </a:prstGeom>
        </p:spPr>
      </p:pic>
      <p:pic>
        <p:nvPicPr>
          <p:cNvPr id="55" name="tree4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6860" y="4027018"/>
            <a:ext cx="347472" cy="416966"/>
          </a:xfrm>
          <a:prstGeom prst="rect">
            <a:avLst/>
          </a:prstGeom>
        </p:spPr>
      </p:pic>
      <p:pic>
        <p:nvPicPr>
          <p:cNvPr id="56" name="tree4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5772" y="4027018"/>
            <a:ext cx="347472" cy="416966"/>
          </a:xfrm>
          <a:prstGeom prst="rect">
            <a:avLst/>
          </a:prstGeom>
        </p:spPr>
      </p:pic>
      <p:pic>
        <p:nvPicPr>
          <p:cNvPr id="57" name="tree4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44684" y="4027018"/>
            <a:ext cx="347472" cy="416966"/>
          </a:xfrm>
          <a:prstGeom prst="rect">
            <a:avLst/>
          </a:prstGeom>
        </p:spPr>
      </p:pic>
      <p:pic>
        <p:nvPicPr>
          <p:cNvPr id="58" name="tree4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483596" y="4027018"/>
            <a:ext cx="347472" cy="416966"/>
          </a:xfrm>
          <a:prstGeom prst="rect">
            <a:avLst/>
          </a:prstGeom>
        </p:spPr>
      </p:pic>
      <p:sp>
        <p:nvSpPr>
          <p:cNvPr id="59" name="treeNote"/>
          <p:cNvSpPr txBox="1"/>
          <p:nvPr/>
        </p:nvSpPr>
        <p:spPr>
          <a:xfrm>
            <a:off x="62636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车开一年少排的气，要 50 棵大树才吸得完</a:t>
            </a:r>
            <a:endParaRPr lang="en-US" sz="1600" dirty="0"/>
          </a:p>
        </p:txBody>
      </p:sp>
      <p:sp>
        <p:nvSpPr>
          <p:cNvPr id="60" name="takeaway"/>
          <p:cNvSpPr txBox="1"/>
          <p:nvPr/>
        </p:nvSpPr>
        <p:spPr>
          <a:xfrm>
            <a:off x="859536" y="5257800"/>
            <a:ext cx="10469880" cy="960120"/>
          </a:xfrm>
          <a:prstGeom prst="roundRect">
            <a:avLst>
              <a:gd name="adj" fmla="val 2095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2025 年卖到外国的新能源车，一年就像种了 1 亿多棵树！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新能源车肚子里的秘密</dc:title>
  <dc:subject>PptxGenJS Presentation</dc:subject>
  <dc:creator>PptxGenJS</dc:creator>
  <cp:lastModifiedBy>PptxGenJS</cp:lastModifiedBy>
  <cp:revision>1</cp:revision>
  <dcterms:created xsi:type="dcterms:W3CDTF">2026-10-22T11:25:07Z</dcterms:created>
  <dcterms:modified xsi:type="dcterms:W3CDTF">2026-10-22T11:25:07Z</dcterms:modified>
</cp:coreProperties>
</file>